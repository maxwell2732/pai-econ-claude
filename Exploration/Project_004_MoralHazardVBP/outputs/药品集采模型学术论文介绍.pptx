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384"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来聊一个非常热门的话题——药品集采。大家可能都听说过，国家通过集中采购，让很多药品价格大幅下降。但这背后，药企是怎么想的？降价会不会导致一些好药退市？对我们整个社会来说，这到底是好事还是坏事？今天，我将通过一个学术模型，为大家深入浅出地解读这些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将分为五个部分。首先，我们会了解一下药品集采的基本情况和我们要研究的核心问题。接着，我会用最简单的方式介绍这个理论模型是如何构建的。然后，我们将重点解读模型得出的几个关键结论。之后，我们会客观地看待这个模型的优点和局限性。最后，总结一下研究的意义和政策启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明确一下什么是药品集采，也就是VBP。大家可以把它想象成一个巨大的线上团购。医保局代表全国的医院和患者，跟药厂说：“我保证买你这么多药，你给我一个最优惠的价格。”药厂之间互相竞争，谁的价格低，谁就能拿到这个大订单。这就是“以量换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集采确实让药价降下来了，但问题也随之而来。对于药厂来说，这是个两难选择：不降没市场，降狠了没利润。对于我们患者来说，便宜是好事，但如果因此导致一些效果更好的原研药停产退市，那怎么办？对于整个社会，我们需要在“现在省钱”和“未来创新”之间找到一个平衡点。这篇论文的研究，就是试图回答这些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好，现在我们进入模型部分。别担心，我们不讲复杂的数学，只看模型里的“演员”。首先是医保局，它像一个大家长，希望所有人都好，既要省钱，又要保证药品供应和创新。然后是原研药厂，它是创新的源头，但成本很高，需要利润来生存。最后是仿制药厂，它们是市场的“鲶鱼”，通过低价竞争拉低药价。这个模型的核心，就是看医保局、原研药厂和仿制药厂之间如何相互博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模型里有一个非常重要的概念，叫做“退出阈值”。你可以把它理解为原研药厂的“心理底价”。如果集采的价格低于这个底价，药厂一算账，觉得不划算，干脆就不玩了，直接退出市场。这个底价不是一成不变的，它受很多因素影响。比如，药厂自己的成本高低、市场上仿制药的竞争有多激烈，还有一个很重要的因素——医保报销比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另一个关键概念是“福利跳跃”。想象一下，当集采价格压得太低，原研药突然退市了，这一刻，社会福利会发生一个突然的变化。这个变化是好是坏呢？我们需要权衡得失。失去的是原研药带来的更好疗效和药厂沉没的研发成本。得到的是仿制药更低的生产成本。如果失去的比得到的多，那社会福利就下降了；反之，如果得到的比失去的多，那退市反而是件好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来看第一个核心结论。模型发现，医保报销比例越高，原研药厂的“心理底价”就越低。这很好理解，因为报销多了，药便宜了，买的人就多了。药厂虽然卖得便宜，但架不住量大，总收入可能还不错。所以，它愿意接受一个更低的价格。这个结论告诉我们，要想让集采顺利推进，光靠压价是不够的，还得把医保报销的保障跟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结论是，集采降价不一定就是坏事。这得看具体情况。如果一个药是不可替代的“救命神药”，它的退市损失会非常大，那我们就应该给它一个合理的价格让它活下去。但如果一个药的仿制药已经很好了，疗效差不多，价格便宜很多，那原研药退不退市其实无所谓，甚至退市了还能节省社会资源。所以，关键在于对药品的价值进行精准评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结论揭示了一个有趣的冲突。医保局作为“管钱的”，它的首要目标是省钱，所以它总想把价格压得越低越好。但对于整个社会来说，我们不仅要省钱，还要考虑患者的感受、产业的创新。有时候，为了鼓励创新，我们需要容忍药品有一定的利润空间。所以，医保局眼中的“最优价格”，可能并不是对整个社会最有利的价格。这中间存在一个“福利楔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一个结论是关于改革顺序的智慧。模型告诉我们，先扩大医保覆盖，再搞集采，效果会更好。因为扩大医保能让药厂承受更低的价格，这时候再去压价，既能把价格降下来，又不容易把好药“压没了”。反过来，如果医保没跟上就强行压价，就很可能导致一些有价值的药品退市，得不偿失。这说明，医改是一个系统工程，需要协同推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然，任何理论模型都有它的优点和缺点。这个模型的亮点在于，它第一次用数学语言把集采中的复杂权衡关系说清楚了，并指出了医保报销比例的重要作用。但它的局限性也很明显，比如它把市场想得太简单了，没有考虑药企之间更复杂的竞争，也没有深入探讨长期的创新问题。了解这些局限，能帮助我们更辩证地看待模型的结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来总结一下。这篇论文告诉我们，集采是一把双刃剑，用得好可以造福社会，用不好可能会损害创新。其中，医保报销比例是一个非常关键的调节工具。未来的政策制定，应该更加精细化，对不同的药品进行分类评估，而不是简单地“唯价格论”。同时，一定要把医保和集采这两项改革协同推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于我们硕士生来说，这个模型能给我们带来什么启发呢？首先，它教会我们如何用模型这个工具去分析复杂的世界，抓住问题的本质。其次，它让我们理解政策制定背后的艰难权衡。最后，也是最重要的，它教会我们批判性思维，任何理论都不是完美的，认识到它的局限，才能真正掌握它。希望今天的分享对大家有帮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我的分享到此结束，感谢大家的聆听。现在是问答环节，欢迎大家提问交流。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jpe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jpeg"/><Relationship Id="rId7" Type="http://schemas.openxmlformats.org/officeDocument/2006/relationships/image" Target="../media/image20.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jpeg"/><Relationship Id="rId7" Type="http://schemas.openxmlformats.org/officeDocument/2006/relationships/image" Target="../media/image28.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 Id="rId9" Type="http://schemas.openxmlformats.org/officeDocument/2006/relationships/image" Target="../media/image30.sv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jpeg"/><Relationship Id="rId7" Type="http://schemas.openxmlformats.org/officeDocument/2006/relationships/image" Target="../media/image34.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36.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8.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7.png"/><Relationship Id="rId5" Type="http://schemas.openxmlformats.org/officeDocument/2006/relationships/image" Target="../media/image28.sv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40.sv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2.jpeg"/><Relationship Id="rId7" Type="http://schemas.openxmlformats.org/officeDocument/2006/relationships/image" Target="../media/image44.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 Id="rId9" Type="http://schemas.openxmlformats.org/officeDocument/2006/relationships/image" Target="../media/image46.svg"/></Relationships>
</file>

<file path=ppt/slides/_rels/slide1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2.jpeg"/><Relationship Id="rId7" Type="http://schemas.openxmlformats.org/officeDocument/2006/relationships/image" Target="../media/image50.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9.png"/><Relationship Id="rId11" Type="http://schemas.openxmlformats.org/officeDocument/2006/relationships/image" Target="../media/image54.svg"/><Relationship Id="rId5" Type="http://schemas.openxmlformats.org/officeDocument/2006/relationships/image" Target="../media/image48.sv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svg"/></Relationships>
</file>

<file path=ppt/slides/_rels/slide12.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svg"/><Relationship Id="rId3" Type="http://schemas.openxmlformats.org/officeDocument/2006/relationships/image" Target="../media/image2.jpeg"/><Relationship Id="rId7" Type="http://schemas.openxmlformats.org/officeDocument/2006/relationships/image" Target="../media/image56.svg"/><Relationship Id="rId12" Type="http://schemas.openxmlformats.org/officeDocument/2006/relationships/image" Target="../media/image61.png"/><Relationship Id="rId17" Type="http://schemas.openxmlformats.org/officeDocument/2006/relationships/image" Target="../media/image66.svg"/><Relationship Id="rId2" Type="http://schemas.openxmlformats.org/officeDocument/2006/relationships/notesSlide" Target="../notesSlides/notesSlide12.xml"/><Relationship Id="rId16" Type="http://schemas.openxmlformats.org/officeDocument/2006/relationships/image" Target="../media/image65.png"/><Relationship Id="rId1" Type="http://schemas.openxmlformats.org/officeDocument/2006/relationships/slideLayout" Target="../slideLayouts/slideLayout12.xml"/><Relationship Id="rId6" Type="http://schemas.openxmlformats.org/officeDocument/2006/relationships/image" Target="../media/image55.png"/><Relationship Id="rId11" Type="http://schemas.openxmlformats.org/officeDocument/2006/relationships/image" Target="../media/image60.svg"/><Relationship Id="rId5" Type="http://schemas.openxmlformats.org/officeDocument/2006/relationships/image" Target="../media/image28.svg"/><Relationship Id="rId15" Type="http://schemas.openxmlformats.org/officeDocument/2006/relationships/image" Target="../media/image64.svg"/><Relationship Id="rId10" Type="http://schemas.openxmlformats.org/officeDocument/2006/relationships/image" Target="../media/image59.png"/><Relationship Id="rId4" Type="http://schemas.openxmlformats.org/officeDocument/2006/relationships/image" Target="../media/image27.png"/><Relationship Id="rId9" Type="http://schemas.openxmlformats.org/officeDocument/2006/relationships/image" Target="../media/image58.svg"/><Relationship Id="rId14" Type="http://schemas.openxmlformats.org/officeDocument/2006/relationships/image" Target="../media/image63.png"/></Relationships>
</file>

<file path=ppt/slides/_rels/slide13.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jpeg"/><Relationship Id="rId7" Type="http://schemas.openxmlformats.org/officeDocument/2006/relationships/image" Target="../media/image68.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67.png"/><Relationship Id="rId11" Type="http://schemas.openxmlformats.org/officeDocument/2006/relationships/image" Target="../media/image72.svg"/><Relationship Id="rId5" Type="http://schemas.openxmlformats.org/officeDocument/2006/relationships/image" Target="../media/image14.svg"/><Relationship Id="rId10" Type="http://schemas.openxmlformats.org/officeDocument/2006/relationships/image" Target="../media/image71.png"/><Relationship Id="rId4" Type="http://schemas.openxmlformats.org/officeDocument/2006/relationships/image" Target="../media/image13.png"/><Relationship Id="rId9" Type="http://schemas.openxmlformats.org/officeDocument/2006/relationships/image" Target="../media/image70.svg"/></Relationships>
</file>

<file path=ppt/slides/_rels/slide1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72.svg"/><Relationship Id="rId4" Type="http://schemas.openxmlformats.org/officeDocument/2006/relationships/image" Target="../media/image71.png"/><Relationship Id="rId9" Type="http://schemas.openxmlformats.org/officeDocument/2006/relationships/image" Target="../media/image70.svg"/></Relationships>
</file>

<file path=ppt/slides/_rels/slide1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1905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药品集采中的药企决策与福利分析</a:t>
            </a:r>
            <a:endParaRPr lang="en-US" sz="1100"/>
          </a:p>
        </p:txBody>
      </p:sp>
      <p:sp>
        <p:nvSpPr>
          <p:cNvPr id="4" name="AutoShape 4"/>
          <p:cNvSpPr/>
          <p:nvPr/>
        </p:nvSpPr>
        <p:spPr>
          <a:xfrm>
            <a:off x="1016000" y="330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200" b="0" i="0" u="none" strike="noStrike" dirty="0">
                <a:solidFill>
                  <a:srgbClr val="FFFFFF">
                    <a:alpha val="90196"/>
                  </a:srgbClr>
                </a:solidFill>
                <a:latin typeface="Noto Sans SC"/>
                <a:ea typeface="Noto Sans SC"/>
                <a:cs typeface="Noto Sans SC"/>
                <a:sym typeface="Noto Sans SC"/>
              </a:rPr>
              <a:t>一个</a:t>
            </a:r>
            <a:r>
              <a:rPr lang="en-US" sz="2200" b="0" i="0" u="none" strike="noStrike" dirty="0" err="1">
                <a:solidFill>
                  <a:srgbClr val="FFFFFF">
                    <a:alpha val="90196"/>
                  </a:srgbClr>
                </a:solidFill>
                <a:latin typeface="Noto Sans SC"/>
                <a:ea typeface="Noto Sans SC"/>
                <a:cs typeface="Noto Sans SC"/>
                <a:sym typeface="Noto Sans SC"/>
              </a:rPr>
              <a:t>理论模型解读</a:t>
            </a:r>
            <a:endParaRPr lang="en-US" sz="1100" dirty="0"/>
          </a:p>
        </p:txBody>
      </p:sp>
      <p:sp>
        <p:nvSpPr>
          <p:cNvPr id="5" name="AutoShape 5"/>
          <p:cNvSpPr/>
          <p:nvPr/>
        </p:nvSpPr>
        <p:spPr>
          <a:xfrm>
            <a:off x="1016000" y="5080000"/>
            <a:ext cx="762000" cy="50800"/>
          </a:xfrm>
          <a:prstGeom prst="roundRect">
            <a:avLst>
              <a:gd name="adj" fmla="val 0"/>
            </a:avLst>
          </a:prstGeom>
          <a:solidFill>
            <a:srgbClr val="FF8C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5461000"/>
            <a:ext cx="5545734"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dirty="0" err="1">
                <a:solidFill>
                  <a:srgbClr val="FFFFFF">
                    <a:alpha val="85098"/>
                  </a:srgbClr>
                </a:solidFill>
                <a:latin typeface="Noto Sans SC"/>
                <a:ea typeface="Noto Sans SC"/>
                <a:cs typeface="Noto Sans SC"/>
                <a:sym typeface="Noto Sans SC"/>
              </a:rPr>
              <a:t>汇报人：朱晨</a:t>
            </a:r>
            <a:r>
              <a:rPr lang="en-US" sz="1600" b="0" i="0" u="none" strike="noStrike" dirty="0">
                <a:solidFill>
                  <a:srgbClr val="FFFFFF">
                    <a:alpha val="85098"/>
                  </a:srgbClr>
                </a:solidFill>
                <a:latin typeface="Noto Sans SC"/>
                <a:ea typeface="Noto Sans SC"/>
                <a:cs typeface="Noto Sans SC"/>
                <a:sym typeface="Noto Sans SC"/>
              </a:rPr>
              <a:t> | </a:t>
            </a:r>
            <a:r>
              <a:rPr lang="en-US" sz="1600" b="0" i="0" u="none" strike="noStrike" dirty="0" err="1">
                <a:solidFill>
                  <a:srgbClr val="FFFFFF">
                    <a:alpha val="85098"/>
                  </a:srgbClr>
                </a:solidFill>
                <a:latin typeface="Noto Sans SC"/>
                <a:ea typeface="Noto Sans SC"/>
                <a:cs typeface="Noto Sans SC"/>
                <a:sym typeface="Noto Sans SC"/>
              </a:rPr>
              <a:t>pAI</a:t>
            </a:r>
            <a:r>
              <a:rPr lang="en-US" sz="1600" b="0" i="0" u="none" strike="noStrike" dirty="0">
                <a:solidFill>
                  <a:srgbClr val="FFFFFF">
                    <a:alpha val="85098"/>
                  </a:srgbClr>
                </a:solidFill>
                <a:latin typeface="Noto Sans SC"/>
                <a:ea typeface="Noto Sans SC"/>
                <a:cs typeface="Noto Sans SC"/>
                <a:sym typeface="Noto Sans SC"/>
              </a:rPr>
              <a:t>-Econ-</a:t>
            </a:r>
            <a:r>
              <a:rPr lang="en-US" sz="1600" b="0" i="0" u="none" strike="noStrike" dirty="0" err="1">
                <a:solidFill>
                  <a:srgbClr val="FFFFFF">
                    <a:alpha val="85098"/>
                  </a:srgbClr>
                </a:solidFill>
                <a:latin typeface="Noto Sans SC"/>
                <a:ea typeface="Noto Sans SC"/>
                <a:cs typeface="Noto Sans SC"/>
                <a:sym typeface="Noto Sans SC"/>
              </a:rPr>
              <a:t>claude</a:t>
            </a:r>
            <a:r>
              <a:rPr lang="en-US" sz="1600" b="0" i="0" u="none" strike="noStrike" dirty="0">
                <a:solidFill>
                  <a:srgbClr val="FFFFFF">
                    <a:alpha val="85098"/>
                  </a:srgbClr>
                </a:solidFill>
                <a:latin typeface="Noto Sans SC"/>
                <a:ea typeface="Noto Sans SC"/>
                <a:cs typeface="Noto Sans SC"/>
                <a:sym typeface="Noto Sans SC"/>
              </a:rPr>
              <a:t> | </a:t>
            </a:r>
            <a:r>
              <a:rPr lang="zh-CN" altLang="en-US" sz="1600" b="0" i="0" u="none" strike="noStrike" dirty="0">
                <a:solidFill>
                  <a:srgbClr val="FFFFFF">
                    <a:alpha val="85098"/>
                  </a:srgbClr>
                </a:solidFill>
                <a:latin typeface="Noto Sans SC"/>
                <a:ea typeface="Noto Sans SC"/>
                <a:cs typeface="Noto Sans SC"/>
                <a:sym typeface="Noto Sans SC"/>
              </a:rPr>
              <a:t>豆包</a:t>
            </a:r>
            <a:r>
              <a:rPr lang="en-US" sz="1600" b="0" i="0" u="none" strike="noStrike" dirty="0">
                <a:solidFill>
                  <a:srgbClr val="FFFFFF">
                    <a:alpha val="85098"/>
                  </a:srgbClr>
                </a:solidFill>
                <a:latin typeface="Noto Sans SC"/>
                <a:ea typeface="Noto Sans SC"/>
                <a:cs typeface="Noto Sans SC"/>
                <a:sym typeface="Noto Sans SC"/>
              </a:rPr>
              <a:t>     日期：2026年6月23</a:t>
            </a:r>
            <a:r>
              <a:rPr lang="zh-CN" altLang="en-US" sz="1600" b="0" i="0" u="none" strike="noStrike" dirty="0">
                <a:solidFill>
                  <a:srgbClr val="FFFFFF">
                    <a:alpha val="85098"/>
                  </a:srgbClr>
                </a:solidFill>
                <a:latin typeface="Noto Sans SC"/>
                <a:ea typeface="Noto Sans SC"/>
                <a:cs typeface="Noto Sans SC"/>
                <a:sym typeface="Noto Sans SC"/>
              </a:rPr>
              <a:t>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目录</a:t>
            </a:r>
            <a:endParaRPr lang="en-US" sz="1100"/>
          </a:p>
        </p:txBody>
      </p:sp>
      <p:sp>
        <p:nvSpPr>
          <p:cNvPr id="4" name="AutoShape 4"/>
          <p:cNvSpPr/>
          <p:nvPr/>
        </p:nvSpPr>
        <p:spPr>
          <a:xfrm>
            <a:off x="762000" y="1778000"/>
            <a:ext cx="52070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13970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968500"/>
            <a:ext cx="63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E5A87">
                    <a:alpha val="80000"/>
                  </a:srgbClr>
                </a:solidFill>
                <a:latin typeface="Noto Sans SC"/>
                <a:ea typeface="Noto Sans SC"/>
                <a:cs typeface="Noto Sans SC"/>
                <a:sym typeface="Noto Sans SC"/>
              </a:rPr>
              <a:t>01</a:t>
            </a:r>
            <a:endParaRPr lang="en-US" sz="1100"/>
          </a:p>
        </p:txBody>
      </p:sp>
      <p:cxnSp>
        <p:nvCxnSpPr>
          <p:cNvPr id="7" name="Connector 7"/>
          <p:cNvCxnSpPr/>
          <p:nvPr/>
        </p:nvCxnSpPr>
        <p:spPr>
          <a:xfrm rot="5357030">
            <a:off x="1397000" y="2470190"/>
            <a:ext cx="1016000" cy="12700"/>
          </a:xfrm>
          <a:prstGeom prst="straightConnector1">
            <a:avLst/>
          </a:prstGeom>
          <a:solidFill>
            <a:srgbClr val="DEE0E3">
              <a:alpha val="100000"/>
            </a:srgbClr>
          </a:solidFill>
          <a:ln w="12700" cap="flat" cmpd="sng">
            <a:solidFill>
              <a:srgbClr val="2E5A87">
                <a:alpha val="30000"/>
              </a:srgbClr>
            </a:solidFill>
            <a:prstDash val="solid"/>
            <a:round/>
            <a:headEnd type="none" w="med" len="med"/>
            <a:tailEnd type="none" w="med" len="med"/>
          </a:ln>
        </p:spPr>
      </p:cxnSp>
      <p:sp>
        <p:nvSpPr>
          <p:cNvPr id="8" name="AutoShape 8"/>
          <p:cNvSpPr/>
          <p:nvPr/>
        </p:nvSpPr>
        <p:spPr>
          <a:xfrm>
            <a:off x="2095500" y="1905000"/>
            <a:ext cx="368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333333"/>
                </a:solidFill>
                <a:latin typeface="Noto Sans SC"/>
                <a:ea typeface="Noto Sans SC"/>
                <a:cs typeface="Noto Sans SC"/>
                <a:sym typeface="Noto Sans SC"/>
              </a:rPr>
              <a:t>研究背景与问题</a:t>
            </a:r>
            <a:endParaRPr lang="en-US" sz="1100"/>
          </a:p>
          <a:p>
            <a:pPr marL="0" indent="0" algn="l">
              <a:lnSpc>
                <a:spcPct val="116666"/>
              </a:lnSpc>
            </a:pPr>
            <a:r>
              <a:rPr lang="en-US" sz="1300" b="0" i="0" u="none" strike="noStrike">
                <a:solidFill>
                  <a:srgbClr val="555555"/>
                </a:solidFill>
                <a:latin typeface="Noto Sans SC"/>
                <a:ea typeface="Noto Sans SC"/>
                <a:cs typeface="Noto Sans SC"/>
                <a:sym typeface="Noto Sans SC"/>
              </a:rPr>
              <a:t>什么是药品集采？我们关心什么问题？从现实困境出发，界定研究的核心议题与价值起点。</a:t>
            </a:r>
          </a:p>
        </p:txBody>
      </p:sp>
      <p:sp>
        <p:nvSpPr>
          <p:cNvPr id="9" name="AutoShape 9"/>
          <p:cNvSpPr/>
          <p:nvPr/>
        </p:nvSpPr>
        <p:spPr>
          <a:xfrm>
            <a:off x="6350000" y="1778000"/>
            <a:ext cx="52070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350000" y="1778000"/>
            <a:ext cx="76200" cy="13970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604000" y="1968500"/>
            <a:ext cx="63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E5A87">
                    <a:alpha val="80000"/>
                  </a:srgbClr>
                </a:solidFill>
                <a:latin typeface="Noto Sans SC"/>
                <a:ea typeface="Noto Sans SC"/>
                <a:cs typeface="Noto Sans SC"/>
                <a:sym typeface="Noto Sans SC"/>
              </a:rPr>
              <a:t>02</a:t>
            </a:r>
            <a:endParaRPr lang="en-US" sz="1100"/>
          </a:p>
        </p:txBody>
      </p:sp>
      <p:cxnSp>
        <p:nvCxnSpPr>
          <p:cNvPr id="12" name="Connector 12"/>
          <p:cNvCxnSpPr/>
          <p:nvPr/>
        </p:nvCxnSpPr>
        <p:spPr>
          <a:xfrm rot="5357030">
            <a:off x="6985000" y="2470190"/>
            <a:ext cx="1016000" cy="12700"/>
          </a:xfrm>
          <a:prstGeom prst="straightConnector1">
            <a:avLst/>
          </a:prstGeom>
          <a:solidFill>
            <a:srgbClr val="DEE0E3">
              <a:alpha val="100000"/>
            </a:srgbClr>
          </a:solidFill>
          <a:ln w="12700" cap="flat" cmpd="sng">
            <a:solidFill>
              <a:srgbClr val="2E5A87">
                <a:alpha val="30000"/>
              </a:srgbClr>
            </a:solidFill>
            <a:prstDash val="solid"/>
            <a:round/>
            <a:headEnd type="none" w="med" len="med"/>
            <a:tailEnd type="none" w="med" len="med"/>
          </a:ln>
        </p:spPr>
      </p:cxnSp>
      <p:sp>
        <p:nvSpPr>
          <p:cNvPr id="13" name="AutoShape 13"/>
          <p:cNvSpPr/>
          <p:nvPr/>
        </p:nvSpPr>
        <p:spPr>
          <a:xfrm>
            <a:off x="7683500" y="1905000"/>
            <a:ext cx="368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333333"/>
                </a:solidFill>
                <a:latin typeface="Noto Sans SC"/>
                <a:ea typeface="Noto Sans SC"/>
                <a:cs typeface="Noto Sans SC"/>
                <a:sym typeface="Noto Sans SC"/>
              </a:rPr>
              <a:t>核心概念与模型设定</a:t>
            </a:r>
            <a:endParaRPr lang="en-US" sz="1100"/>
          </a:p>
          <a:p>
            <a:pPr marL="0" indent="0" algn="l">
              <a:lnSpc>
                <a:spcPct val="116666"/>
              </a:lnSpc>
            </a:pPr>
            <a:r>
              <a:rPr lang="en-US" sz="1300" b="0" i="0" u="none" strike="noStrike">
                <a:solidFill>
                  <a:srgbClr val="555555"/>
                </a:solidFill>
                <a:latin typeface="Noto Sans SC"/>
                <a:ea typeface="Noto Sans SC"/>
                <a:cs typeface="Noto Sans SC"/>
                <a:sym typeface="Noto Sans SC"/>
              </a:rPr>
              <a:t>模型里有谁？他们的目标是什么？解析参与主体的决策逻辑，构建理论分析的基本框架。</a:t>
            </a:r>
          </a:p>
        </p:txBody>
      </p:sp>
      <p:sp>
        <p:nvSpPr>
          <p:cNvPr id="14" name="AutoShape 14"/>
          <p:cNvSpPr/>
          <p:nvPr/>
        </p:nvSpPr>
        <p:spPr>
          <a:xfrm>
            <a:off x="762000" y="3556000"/>
            <a:ext cx="52070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62000" y="3556000"/>
            <a:ext cx="76200" cy="13970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016000" y="3746500"/>
            <a:ext cx="63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E5A87">
                    <a:alpha val="80000"/>
                  </a:srgbClr>
                </a:solidFill>
                <a:latin typeface="Noto Sans SC"/>
                <a:ea typeface="Noto Sans SC"/>
                <a:cs typeface="Noto Sans SC"/>
                <a:sym typeface="Noto Sans SC"/>
              </a:rPr>
              <a:t>03</a:t>
            </a:r>
            <a:endParaRPr lang="en-US" sz="1100"/>
          </a:p>
        </p:txBody>
      </p:sp>
      <p:cxnSp>
        <p:nvCxnSpPr>
          <p:cNvPr id="17" name="Connector 17"/>
          <p:cNvCxnSpPr/>
          <p:nvPr/>
        </p:nvCxnSpPr>
        <p:spPr>
          <a:xfrm rot="5357030">
            <a:off x="1397000" y="4248190"/>
            <a:ext cx="1016000" cy="12700"/>
          </a:xfrm>
          <a:prstGeom prst="straightConnector1">
            <a:avLst/>
          </a:prstGeom>
          <a:solidFill>
            <a:srgbClr val="DEE0E3">
              <a:alpha val="100000"/>
            </a:srgbClr>
          </a:solidFill>
          <a:ln w="12700" cap="flat" cmpd="sng">
            <a:solidFill>
              <a:srgbClr val="2E5A87">
                <a:alpha val="30000"/>
              </a:srgbClr>
            </a:solidFill>
            <a:prstDash val="solid"/>
            <a:round/>
            <a:headEnd type="none" w="med" len="med"/>
            <a:tailEnd type="none" w="med" len="med"/>
          </a:ln>
        </p:spPr>
      </p:cxnSp>
      <p:sp>
        <p:nvSpPr>
          <p:cNvPr id="18" name="AutoShape 18"/>
          <p:cNvSpPr/>
          <p:nvPr/>
        </p:nvSpPr>
        <p:spPr>
          <a:xfrm>
            <a:off x="2095500" y="3683000"/>
            <a:ext cx="368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333333"/>
                </a:solidFill>
                <a:latin typeface="Noto Sans SC"/>
                <a:ea typeface="Noto Sans SC"/>
                <a:cs typeface="Noto Sans SC"/>
                <a:sym typeface="Noto Sans SC"/>
              </a:rPr>
              <a:t>核心结论解读</a:t>
            </a:r>
            <a:endParaRPr lang="en-US" sz="1100"/>
          </a:p>
          <a:p>
            <a:pPr marL="0" indent="0" algn="l">
              <a:lnSpc>
                <a:spcPct val="116666"/>
              </a:lnSpc>
            </a:pPr>
            <a:r>
              <a:rPr lang="en-US" sz="1300" b="0" i="0" u="none" strike="noStrike">
                <a:solidFill>
                  <a:srgbClr val="555555"/>
                </a:solidFill>
                <a:latin typeface="Noto Sans SC"/>
                <a:ea typeface="Noto Sans SC"/>
                <a:cs typeface="Noto Sans SC"/>
                <a:sym typeface="Noto Sans SC"/>
              </a:rPr>
              <a:t>模型告诉了我们什么有趣的发现？通过数据与推演，揭示集采机制对市场格局的深层影响。</a:t>
            </a:r>
          </a:p>
        </p:txBody>
      </p:sp>
      <p:sp>
        <p:nvSpPr>
          <p:cNvPr id="19" name="AutoShape 19"/>
          <p:cNvSpPr/>
          <p:nvPr/>
        </p:nvSpPr>
        <p:spPr>
          <a:xfrm>
            <a:off x="6350000" y="3556000"/>
            <a:ext cx="5207000" cy="1397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350000" y="3556000"/>
            <a:ext cx="76200" cy="13970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604000" y="3746500"/>
            <a:ext cx="63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E5A87">
                    <a:alpha val="80000"/>
                  </a:srgbClr>
                </a:solidFill>
                <a:latin typeface="Noto Sans SC"/>
                <a:ea typeface="Noto Sans SC"/>
                <a:cs typeface="Noto Sans SC"/>
                <a:sym typeface="Noto Sans SC"/>
              </a:rPr>
              <a:t>04</a:t>
            </a:r>
            <a:endParaRPr lang="en-US" sz="1100"/>
          </a:p>
        </p:txBody>
      </p:sp>
      <p:cxnSp>
        <p:nvCxnSpPr>
          <p:cNvPr id="22" name="Connector 22"/>
          <p:cNvCxnSpPr/>
          <p:nvPr/>
        </p:nvCxnSpPr>
        <p:spPr>
          <a:xfrm rot="5357030">
            <a:off x="6985000" y="4248190"/>
            <a:ext cx="1016000" cy="12700"/>
          </a:xfrm>
          <a:prstGeom prst="straightConnector1">
            <a:avLst/>
          </a:prstGeom>
          <a:solidFill>
            <a:srgbClr val="DEE0E3">
              <a:alpha val="100000"/>
            </a:srgbClr>
          </a:solidFill>
          <a:ln w="12700" cap="flat" cmpd="sng">
            <a:solidFill>
              <a:srgbClr val="2E5A87">
                <a:alpha val="30000"/>
              </a:srgbClr>
            </a:solidFill>
            <a:prstDash val="solid"/>
            <a:round/>
            <a:headEnd type="none" w="med" len="med"/>
            <a:tailEnd type="none" w="med" len="med"/>
          </a:ln>
        </p:spPr>
      </p:cxnSp>
      <p:sp>
        <p:nvSpPr>
          <p:cNvPr id="23" name="AutoShape 23"/>
          <p:cNvSpPr/>
          <p:nvPr/>
        </p:nvSpPr>
        <p:spPr>
          <a:xfrm>
            <a:off x="7683500" y="3683000"/>
            <a:ext cx="368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333333"/>
                </a:solidFill>
                <a:latin typeface="Noto Sans SC"/>
                <a:ea typeface="Noto Sans SC"/>
                <a:cs typeface="Noto Sans SC"/>
                <a:sym typeface="Noto Sans SC"/>
              </a:rPr>
              <a:t>模型的亮点与局限</a:t>
            </a:r>
            <a:endParaRPr lang="en-US" sz="1100"/>
          </a:p>
          <a:p>
            <a:pPr marL="0" indent="0" algn="l">
              <a:lnSpc>
                <a:spcPct val="116666"/>
              </a:lnSpc>
            </a:pPr>
            <a:r>
              <a:rPr lang="en-US" sz="1300" b="0" i="0" u="none" strike="noStrike">
                <a:solidFill>
                  <a:srgbClr val="555555"/>
                </a:solidFill>
                <a:latin typeface="Noto Sans SC"/>
                <a:ea typeface="Noto Sans SC"/>
                <a:cs typeface="Noto Sans SC"/>
                <a:sym typeface="Noto Sans SC"/>
              </a:rPr>
              <a:t>这个模型好在哪？又有哪些不足？客观审视分析框架的解释力边界，探讨假设条件的现实约束。</a:t>
            </a:r>
          </a:p>
        </p:txBody>
      </p:sp>
      <p:sp>
        <p:nvSpPr>
          <p:cNvPr id="24" name="AutoShape 24"/>
          <p:cNvSpPr/>
          <p:nvPr/>
        </p:nvSpPr>
        <p:spPr>
          <a:xfrm>
            <a:off x="762000" y="5334000"/>
            <a:ext cx="10795000" cy="1143000"/>
          </a:xfrm>
          <a:prstGeom prst="roundRect">
            <a:avLst>
              <a:gd name="adj" fmla="val 0"/>
            </a:avLst>
          </a:prstGeom>
          <a:solidFill>
            <a:srgbClr val="2E5A87">
              <a:alpha val="10000"/>
            </a:srgbClr>
          </a:solidFill>
          <a:ln w="12700" cap="flat" cmpd="sng">
            <a:solidFill>
              <a:srgbClr val="2E5A87">
                <a:alpha val="3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1016000" y="5461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E5A87">
                    <a:alpha val="90196"/>
                  </a:srgbClr>
                </a:solidFill>
                <a:latin typeface="Noto Sans SC"/>
                <a:ea typeface="Noto Sans SC"/>
                <a:cs typeface="Noto Sans SC"/>
                <a:sym typeface="Noto Sans SC"/>
              </a:rPr>
              <a:t>05</a:t>
            </a:r>
            <a:endParaRPr lang="en-US" sz="1100"/>
          </a:p>
        </p:txBody>
      </p:sp>
      <p:cxnSp>
        <p:nvCxnSpPr>
          <p:cNvPr id="26" name="Connector 26"/>
          <p:cNvCxnSpPr/>
          <p:nvPr/>
        </p:nvCxnSpPr>
        <p:spPr>
          <a:xfrm rot="5342709">
            <a:off x="1651000" y="5899203"/>
            <a:ext cx="762000" cy="12700"/>
          </a:xfrm>
          <a:prstGeom prst="straightConnector1">
            <a:avLst/>
          </a:prstGeom>
          <a:solidFill>
            <a:srgbClr val="DEE0E3">
              <a:alpha val="100000"/>
            </a:srgbClr>
          </a:solidFill>
          <a:ln w="12700" cap="flat" cmpd="sng">
            <a:solidFill>
              <a:srgbClr val="2E5A87">
                <a:alpha val="40000"/>
              </a:srgbClr>
            </a:solidFill>
            <a:prstDash val="solid"/>
            <a:round/>
            <a:headEnd type="none" w="med" len="med"/>
            <a:tailEnd type="none" w="med" len="med"/>
          </a:ln>
        </p:spPr>
      </p:cxnSp>
      <p:sp>
        <p:nvSpPr>
          <p:cNvPr id="27" name="AutoShape 27"/>
          <p:cNvSpPr/>
          <p:nvPr/>
        </p:nvSpPr>
        <p:spPr>
          <a:xfrm>
            <a:off x="2286000" y="5461000"/>
            <a:ext cx="876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333333"/>
                </a:solidFill>
                <a:latin typeface="Noto Sans SC"/>
                <a:ea typeface="Noto Sans SC"/>
                <a:cs typeface="Noto Sans SC"/>
                <a:sym typeface="Noto Sans SC"/>
              </a:rPr>
              <a:t>结论与政策启示</a:t>
            </a:r>
            <a:endParaRPr lang="en-US" sz="1100"/>
          </a:p>
          <a:p>
            <a:pPr marL="0" indent="0" algn="l">
              <a:lnSpc>
                <a:spcPct val="116666"/>
              </a:lnSpc>
            </a:pPr>
            <a:r>
              <a:rPr lang="en-US" sz="1300" b="0" i="0" u="none" strike="noStrike">
                <a:solidFill>
                  <a:srgbClr val="555555"/>
                </a:solidFill>
                <a:latin typeface="Noto Sans SC"/>
                <a:ea typeface="Noto Sans SC"/>
                <a:cs typeface="Noto Sans SC"/>
                <a:sym typeface="Noto Sans SC"/>
              </a:rPr>
              <a:t>我们能从中学到什么？总结研究发现，为完善药品集采政策、平衡各方利益提供切实可行的参考方向。</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01 研究背景与问题</a:t>
            </a:r>
            <a:endParaRPr lang="en-US" sz="1100"/>
          </a:p>
        </p:txBody>
      </p:sp>
      <p:sp>
        <p:nvSpPr>
          <p:cNvPr id="4" name="AutoShape 4"/>
          <p:cNvSpPr/>
          <p:nvPr/>
        </p:nvSpPr>
        <p:spPr>
          <a:xfrm>
            <a:off x="762000" y="1651000"/>
            <a:ext cx="10668000" cy="1397000"/>
          </a:xfrm>
          <a:prstGeom prst="roundRect">
            <a:avLst>
              <a:gd name="adj" fmla="val 0"/>
            </a:avLst>
          </a:prstGeom>
          <a:solidFill>
            <a:srgbClr val="2E5A8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76200" cy="13970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79500" y="1778000"/>
            <a:ext cx="10096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1" i="0" u="none" strike="noStrike">
                <a:solidFill>
                  <a:srgbClr val="2E5A87"/>
                </a:solidFill>
                <a:latin typeface="Noto Sans SC"/>
                <a:ea typeface="Noto Sans SC"/>
                <a:cs typeface="Noto Sans SC"/>
                <a:sym typeface="Noto Sans SC"/>
              </a:rPr>
              <a:t>什么是药品集中带量采购（VBP）？</a:t>
            </a:r>
            <a:endParaRPr lang="en-US" sz="1100"/>
          </a:p>
          <a:p>
            <a:pPr marL="0" indent="0" algn="l">
              <a:lnSpc>
                <a:spcPct val="116666"/>
              </a:lnSpc>
            </a:pPr>
            <a:r>
              <a:rPr lang="en-US" sz="1400" b="0" i="0" u="none" strike="noStrike">
                <a:solidFill>
                  <a:srgbClr val="444444"/>
                </a:solidFill>
                <a:latin typeface="Noto Sans SC"/>
                <a:ea typeface="Noto Sans SC"/>
                <a:cs typeface="Noto Sans SC"/>
                <a:sym typeface="Noto Sans SC"/>
              </a:rPr>
              <a:t>药品集中带量采购（Volume-Based Procurement, VBP）是指医保部门代表医疗机构，以“团购”的形式，通过与药企谈判竞价，确定药品的采购价格和数量，从根源上重构药品流通与定价体系的政策实践。</a:t>
            </a:r>
          </a:p>
        </p:txBody>
      </p:sp>
      <p:sp>
        <p:nvSpPr>
          <p:cNvPr id="7" name="AutoShape 7"/>
          <p:cNvSpPr/>
          <p:nvPr/>
        </p:nvSpPr>
        <p:spPr>
          <a:xfrm>
            <a:off x="762000" y="3556000"/>
            <a:ext cx="3378200" cy="1841500"/>
          </a:xfrm>
          <a:prstGeom prst="roundRect">
            <a:avLst>
              <a:gd name="adj" fmla="val 0"/>
            </a:avLst>
          </a:prstGeom>
          <a:solidFill>
            <a:srgbClr val="FFFFFF">
              <a:alpha val="75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746500"/>
            <a:ext cx="355600" cy="355600"/>
          </a:xfrm>
          <a:prstGeom prst="rect">
            <a:avLst/>
          </a:prstGeom>
        </p:spPr>
      </p:pic>
      <p:sp>
        <p:nvSpPr>
          <p:cNvPr id="9" name="AutoShape 9"/>
          <p:cNvSpPr/>
          <p:nvPr/>
        </p:nvSpPr>
        <p:spPr>
          <a:xfrm>
            <a:off x="1460500" y="3708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以量换价，价格重塑</a:t>
            </a:r>
            <a:endParaRPr lang="en-US" sz="1100"/>
          </a:p>
        </p:txBody>
      </p:sp>
      <p:cxnSp>
        <p:nvCxnSpPr>
          <p:cNvPr id="10" name="Connector 10"/>
          <p:cNvCxnSpPr/>
          <p:nvPr/>
        </p:nvCxnSpPr>
        <p:spPr>
          <a:xfrm rot="-14566">
            <a:off x="952513" y="4311650"/>
            <a:ext cx="29972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11" name="AutoShape 11"/>
          <p:cNvSpPr/>
          <p:nvPr/>
        </p:nvSpPr>
        <p:spPr>
          <a:xfrm>
            <a:off x="952500" y="4445000"/>
            <a:ext cx="2997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通过明确承诺采购数量，换取药企的最低报价，大幅压缩药品流通环节的溢价空间，实现药价的合理回归。</a:t>
            </a:r>
            <a:endParaRPr lang="en-US" sz="1100"/>
          </a:p>
        </p:txBody>
      </p:sp>
      <p:sp>
        <p:nvSpPr>
          <p:cNvPr id="12" name="AutoShape 12"/>
          <p:cNvSpPr/>
          <p:nvPr/>
        </p:nvSpPr>
        <p:spPr>
          <a:xfrm>
            <a:off x="4406900" y="3556000"/>
            <a:ext cx="3378200" cy="1841500"/>
          </a:xfrm>
          <a:prstGeom prst="roundRect">
            <a:avLst>
              <a:gd name="adj" fmla="val 0"/>
            </a:avLst>
          </a:prstGeom>
          <a:solidFill>
            <a:srgbClr val="FFFFFF">
              <a:alpha val="75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97400" y="3746500"/>
            <a:ext cx="355600" cy="355600"/>
          </a:xfrm>
          <a:prstGeom prst="rect">
            <a:avLst/>
          </a:prstGeom>
        </p:spPr>
      </p:pic>
      <p:sp>
        <p:nvSpPr>
          <p:cNvPr id="14" name="AutoShape 14"/>
          <p:cNvSpPr/>
          <p:nvPr/>
        </p:nvSpPr>
        <p:spPr>
          <a:xfrm>
            <a:off x="5105400" y="3708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市场竞争，价低者得</a:t>
            </a:r>
            <a:endParaRPr lang="en-US" sz="1100"/>
          </a:p>
        </p:txBody>
      </p:sp>
      <p:cxnSp>
        <p:nvCxnSpPr>
          <p:cNvPr id="15" name="Connector 15"/>
          <p:cNvCxnSpPr/>
          <p:nvPr/>
        </p:nvCxnSpPr>
        <p:spPr>
          <a:xfrm rot="-14566">
            <a:off x="4597413" y="4311650"/>
            <a:ext cx="29972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16" name="AutoShape 16"/>
          <p:cNvSpPr/>
          <p:nvPr/>
        </p:nvSpPr>
        <p:spPr>
          <a:xfrm>
            <a:off x="4597400" y="4445000"/>
            <a:ext cx="2997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建立公开透明的竞标机制，多家药企同台竞争，以质量和价格为核心筛选中选企业，提升市场资源配置效率。</a:t>
            </a:r>
            <a:endParaRPr lang="en-US" sz="1100"/>
          </a:p>
        </p:txBody>
      </p:sp>
      <p:sp>
        <p:nvSpPr>
          <p:cNvPr id="17" name="AutoShape 17"/>
          <p:cNvSpPr/>
          <p:nvPr/>
        </p:nvSpPr>
        <p:spPr>
          <a:xfrm>
            <a:off x="8051800" y="3556000"/>
            <a:ext cx="3378200" cy="1841500"/>
          </a:xfrm>
          <a:prstGeom prst="roundRect">
            <a:avLst>
              <a:gd name="adj" fmla="val 0"/>
            </a:avLst>
          </a:prstGeom>
          <a:solidFill>
            <a:srgbClr val="FFFFFF">
              <a:alpha val="75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42300" y="3746500"/>
            <a:ext cx="355600" cy="355600"/>
          </a:xfrm>
          <a:prstGeom prst="rect">
            <a:avLst/>
          </a:prstGeom>
        </p:spPr>
      </p:pic>
      <p:sp>
        <p:nvSpPr>
          <p:cNvPr id="19" name="AutoShape 19"/>
          <p:cNvSpPr/>
          <p:nvPr/>
        </p:nvSpPr>
        <p:spPr>
          <a:xfrm>
            <a:off x="8750300" y="3708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医保锚定，支付主导</a:t>
            </a:r>
            <a:endParaRPr lang="en-US" sz="1100"/>
          </a:p>
        </p:txBody>
      </p:sp>
      <p:cxnSp>
        <p:nvCxnSpPr>
          <p:cNvPr id="20" name="Connector 20"/>
          <p:cNvCxnSpPr/>
          <p:nvPr/>
        </p:nvCxnSpPr>
        <p:spPr>
          <a:xfrm rot="-14566">
            <a:off x="8242313" y="4311650"/>
            <a:ext cx="29972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21" name="AutoShape 21"/>
          <p:cNvSpPr/>
          <p:nvPr/>
        </p:nvSpPr>
        <p:spPr>
          <a:xfrm>
            <a:off x="8242300" y="4445000"/>
            <a:ext cx="2997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中选药品直接纳入医保目录，医保基金作为主要购买方，保障了药品的采购落地与使用，同时为患者减轻支付负担。</a:t>
            </a:r>
            <a:endParaRPr lang="en-US" sz="1100"/>
          </a:p>
        </p:txBody>
      </p:sp>
      <p:sp>
        <p:nvSpPr>
          <p:cNvPr id="22" name="AutoShape 22"/>
          <p:cNvSpPr/>
          <p:nvPr/>
        </p:nvSpPr>
        <p:spPr>
          <a:xfrm>
            <a:off x="762000" y="5715000"/>
            <a:ext cx="10668000" cy="762000"/>
          </a:xfrm>
          <a:prstGeom prst="roundRect">
            <a:avLst>
              <a:gd name="adj" fmla="val 0"/>
            </a:avLst>
          </a:prstGeom>
          <a:solidFill>
            <a:srgbClr val="2E5A87">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16000" y="5816600"/>
            <a:ext cx="1016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E5A87"/>
                </a:solidFill>
                <a:latin typeface="Noto Sans SC"/>
                <a:ea typeface="Noto Sans SC"/>
                <a:cs typeface="Noto Sans SC"/>
                <a:sym typeface="Noto Sans SC"/>
              </a:rPr>
              <a:t>总结：</a:t>
            </a:r>
            <a:r>
              <a:rPr lang="en-US" sz="1400" b="0" i="0" u="none" strike="noStrike">
                <a:solidFill>
                  <a:srgbClr val="444444"/>
                </a:solidFill>
                <a:latin typeface="Noto Sans SC"/>
                <a:ea typeface="Noto Sans SC"/>
                <a:cs typeface="Noto Sans SC"/>
                <a:sym typeface="Noto Sans SC"/>
              </a:rPr>
              <a:t>医保局作为“超级买家”，通过集中采购的杠杆效应，为全国人民进行“国家谈判砍价”，在保障药品供应的同时，实现医疗费用的科学管控。</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01 研究背景与问题</a:t>
            </a:r>
            <a:endParaRPr lang="en-US" sz="1100"/>
          </a:p>
        </p:txBody>
      </p:sp>
      <p:sp>
        <p:nvSpPr>
          <p:cNvPr id="4" name="AutoShape 4"/>
          <p:cNvSpPr/>
          <p:nvPr/>
        </p:nvSpPr>
        <p:spPr>
          <a:xfrm>
            <a:off x="762000" y="1397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C3C3C"/>
                </a:solidFill>
                <a:latin typeface="Noto Sans SC"/>
                <a:ea typeface="Noto Sans SC"/>
                <a:cs typeface="Noto Sans SC"/>
                <a:sym typeface="Noto Sans SC"/>
              </a:rPr>
              <a:t>药品集采在大幅降低药价、惠及民生的同时，也引发了行业、患者与社会层面的多重思考与潜在挑战。</a:t>
            </a:r>
            <a:endParaRPr lang="en-US" sz="1100"/>
          </a:p>
        </p:txBody>
      </p:sp>
      <p:cxnSp>
        <p:nvCxnSpPr>
          <p:cNvPr id="5" name="Connector 5"/>
          <p:cNvCxnSpPr/>
          <p:nvPr/>
        </p:nvCxnSpPr>
        <p:spPr>
          <a:xfrm rot="-4092">
            <a:off x="762004" y="2279650"/>
            <a:ext cx="10668000" cy="12700"/>
          </a:xfrm>
          <a:prstGeom prst="straightConnector1">
            <a:avLst/>
          </a:prstGeom>
          <a:solidFill>
            <a:srgbClr val="DEE0E3">
              <a:alpha val="100000"/>
            </a:srgbClr>
          </a:solidFill>
          <a:ln w="12700" cap="flat" cmpd="sng">
            <a:solidFill>
              <a:srgbClr val="2E5A87">
                <a:alpha val="30000"/>
              </a:srgbClr>
            </a:solidFill>
            <a:prstDash val="solid"/>
            <a:round/>
            <a:headEnd type="none" w="med" len="med"/>
            <a:tailEnd type="none" w="med" len="med"/>
          </a:ln>
        </p:spPr>
      </p:cxnSp>
      <p:sp>
        <p:nvSpPr>
          <p:cNvPr id="6" name="AutoShape 6"/>
          <p:cNvSpPr/>
          <p:nvPr/>
        </p:nvSpPr>
        <p:spPr>
          <a:xfrm>
            <a:off x="762000" y="2667000"/>
            <a:ext cx="3429000" cy="2286000"/>
          </a:xfrm>
          <a:prstGeom prst="roundRect">
            <a:avLst>
              <a:gd name="adj" fmla="val 0"/>
            </a:avLst>
          </a:prstGeom>
          <a:solidFill>
            <a:srgbClr val="FFFFFF">
              <a:alpha val="75000"/>
            </a:srgbClr>
          </a:solidFill>
          <a:ln w="12700" cap="flat" cmpd="sng">
            <a:solidFill>
              <a:srgbClr val="2E5A87">
                <a:alpha val="4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667000"/>
            <a:ext cx="3429000" cy="508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921000"/>
            <a:ext cx="304800" cy="304800"/>
          </a:xfrm>
          <a:prstGeom prst="rect">
            <a:avLst/>
          </a:prstGeom>
        </p:spPr>
      </p:pic>
      <p:sp>
        <p:nvSpPr>
          <p:cNvPr id="9" name="AutoShape 9"/>
          <p:cNvSpPr/>
          <p:nvPr/>
        </p:nvSpPr>
        <p:spPr>
          <a:xfrm>
            <a:off x="1397000" y="28829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01 药企的“两难”困境</a:t>
            </a:r>
            <a:endParaRPr lang="en-US" sz="1100"/>
          </a:p>
        </p:txBody>
      </p:sp>
      <p:sp>
        <p:nvSpPr>
          <p:cNvPr id="10" name="AutoShape 10"/>
          <p:cNvSpPr/>
          <p:nvPr/>
        </p:nvSpPr>
        <p:spPr>
          <a:xfrm>
            <a:off x="952500" y="35560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4B4B"/>
                </a:solidFill>
                <a:latin typeface="Noto Sans SC"/>
                <a:ea typeface="Noto Sans SC"/>
                <a:cs typeface="Noto Sans SC"/>
                <a:sym typeface="Noto Sans SC"/>
              </a:rPr>
              <a:t>不降价则丧失市场份额，无订单可接；若大幅降价，微薄的利润甚至亏损将直接削弱企业研发新药的动力，更可能迫使企业放弃部分廉价老药的生产，形成恶性循环。</a:t>
            </a:r>
            <a:endParaRPr lang="en-US" sz="1100"/>
          </a:p>
        </p:txBody>
      </p:sp>
      <p:sp>
        <p:nvSpPr>
          <p:cNvPr id="11" name="AutoShape 11"/>
          <p:cNvSpPr/>
          <p:nvPr/>
        </p:nvSpPr>
        <p:spPr>
          <a:xfrm>
            <a:off x="4381500" y="2667000"/>
            <a:ext cx="3429000" cy="2286000"/>
          </a:xfrm>
          <a:prstGeom prst="roundRect">
            <a:avLst>
              <a:gd name="adj" fmla="val 0"/>
            </a:avLst>
          </a:prstGeom>
          <a:solidFill>
            <a:srgbClr val="FFFFFF">
              <a:alpha val="75000"/>
            </a:srgbClr>
          </a:solidFill>
          <a:ln w="12700" cap="flat" cmpd="sng">
            <a:solidFill>
              <a:srgbClr val="2E5A87">
                <a:alpha val="4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381500" y="2667000"/>
            <a:ext cx="3429000" cy="508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2921000"/>
            <a:ext cx="304800" cy="304800"/>
          </a:xfrm>
          <a:prstGeom prst="rect">
            <a:avLst/>
          </a:prstGeom>
        </p:spPr>
      </p:pic>
      <p:sp>
        <p:nvSpPr>
          <p:cNvPr id="14" name="AutoShape 14"/>
          <p:cNvSpPr/>
          <p:nvPr/>
        </p:nvSpPr>
        <p:spPr>
          <a:xfrm>
            <a:off x="5016500" y="28829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02 患者的用药“风险”</a:t>
            </a:r>
            <a:endParaRPr lang="en-US" sz="1100"/>
          </a:p>
        </p:txBody>
      </p:sp>
      <p:sp>
        <p:nvSpPr>
          <p:cNvPr id="15" name="AutoShape 15"/>
          <p:cNvSpPr/>
          <p:nvPr/>
        </p:nvSpPr>
        <p:spPr>
          <a:xfrm>
            <a:off x="4572000" y="35560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4B4B"/>
                </a:solidFill>
                <a:latin typeface="Noto Sans SC"/>
                <a:ea typeface="Noto Sans SC"/>
                <a:cs typeface="Noto Sans SC"/>
                <a:sym typeface="Noto Sans SC"/>
              </a:rPr>
              <a:t>若高价值原研药因集采利润空间不足而退市，患者可能被迫失去疗效更优、安全性更高的治疗选择。低价虽好，但若以牺牲治疗质量和多样性为代价，则得不偿失。</a:t>
            </a:r>
            <a:endParaRPr lang="en-US" sz="1100"/>
          </a:p>
        </p:txBody>
      </p:sp>
      <p:sp>
        <p:nvSpPr>
          <p:cNvPr id="16" name="AutoShape 16"/>
          <p:cNvSpPr/>
          <p:nvPr/>
        </p:nvSpPr>
        <p:spPr>
          <a:xfrm>
            <a:off x="8001000" y="2667000"/>
            <a:ext cx="3429000" cy="2286000"/>
          </a:xfrm>
          <a:prstGeom prst="roundRect">
            <a:avLst>
              <a:gd name="adj" fmla="val 0"/>
            </a:avLst>
          </a:prstGeom>
          <a:solidFill>
            <a:srgbClr val="FFFFFF">
              <a:alpha val="75000"/>
            </a:srgbClr>
          </a:solidFill>
          <a:ln w="12700" cap="flat" cmpd="sng">
            <a:solidFill>
              <a:srgbClr val="2E5A87">
                <a:alpha val="4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001000" y="2667000"/>
            <a:ext cx="3429000" cy="508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2921000"/>
            <a:ext cx="304800" cy="304800"/>
          </a:xfrm>
          <a:prstGeom prst="rect">
            <a:avLst/>
          </a:prstGeom>
        </p:spPr>
      </p:pic>
      <p:sp>
        <p:nvSpPr>
          <p:cNvPr id="19" name="AutoShape 19"/>
          <p:cNvSpPr/>
          <p:nvPr/>
        </p:nvSpPr>
        <p:spPr>
          <a:xfrm>
            <a:off x="8636000" y="28829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03 社会层面的“权衡”</a:t>
            </a:r>
            <a:endParaRPr lang="en-US" sz="1100"/>
          </a:p>
        </p:txBody>
      </p:sp>
      <p:sp>
        <p:nvSpPr>
          <p:cNvPr id="20" name="AutoShape 20"/>
          <p:cNvSpPr/>
          <p:nvPr/>
        </p:nvSpPr>
        <p:spPr>
          <a:xfrm>
            <a:off x="8191500" y="35560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4B4B"/>
                </a:solidFill>
                <a:latin typeface="Noto Sans SC"/>
                <a:ea typeface="Noto Sans SC"/>
                <a:cs typeface="Noto Sans SC"/>
                <a:sym typeface="Noto Sans SC"/>
              </a:rPr>
              <a:t>短期来看，低价仿制药有效节省了医保基金，提升了药品可及性。但从长远视角审视，过度的价格压制是否会损害医药行业的创新生态，导致未来无新药可用，是必须深思的命题。</a:t>
            </a:r>
            <a:endParaRPr lang="en-US" sz="1100"/>
          </a:p>
        </p:txBody>
      </p:sp>
      <p:sp>
        <p:nvSpPr>
          <p:cNvPr id="21" name="AutoShape 21"/>
          <p:cNvSpPr/>
          <p:nvPr/>
        </p:nvSpPr>
        <p:spPr>
          <a:xfrm>
            <a:off x="762000" y="5397500"/>
            <a:ext cx="10668000" cy="1079500"/>
          </a:xfrm>
          <a:prstGeom prst="roundRect">
            <a:avLst>
              <a:gd name="adj" fmla="val 0"/>
            </a:avLst>
          </a:prstGeom>
          <a:solidFill>
            <a:srgbClr val="2E5A87">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689600"/>
            <a:ext cx="406400" cy="406400"/>
          </a:xfrm>
          <a:prstGeom prst="rect">
            <a:avLst/>
          </a:prstGeom>
        </p:spPr>
      </p:pic>
      <p:sp>
        <p:nvSpPr>
          <p:cNvPr id="23" name="AutoShape 23"/>
          <p:cNvSpPr/>
          <p:nvPr/>
        </p:nvSpPr>
        <p:spPr>
          <a:xfrm>
            <a:off x="1651000" y="5524500"/>
            <a:ext cx="952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FFFFFF"/>
                </a:solidFill>
                <a:latin typeface="Noto Sans SC"/>
                <a:ea typeface="Noto Sans SC"/>
                <a:cs typeface="Noto Sans SC"/>
                <a:sym typeface="Noto Sans SC"/>
              </a:rPr>
              <a:t>本研究核心目标：</a:t>
            </a:r>
            <a:r>
              <a:rPr lang="en-US" sz="1400" b="0" i="0" u="none" strike="noStrike">
                <a:solidFill>
                  <a:srgbClr val="FFFFFF">
                    <a:alpha val="90196"/>
                  </a:srgbClr>
                </a:solidFill>
                <a:latin typeface="Noto Sans SC"/>
                <a:ea typeface="Noto Sans SC"/>
                <a:cs typeface="Noto Sans SC"/>
                <a:sym typeface="Noto Sans SC"/>
              </a:rPr>
              <a:t>构建理论模型，系统分析集采政策下制药企业的市场决策行为，并量化评估这些策略选择对社会整体医疗福利的动态影响，为政策优化提供科学依据。</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核心概念与模型设定</a:t>
            </a:r>
            <a:endParaRPr lang="en-US" sz="1100"/>
          </a:p>
        </p:txBody>
      </p:sp>
      <p:sp>
        <p:nvSpPr>
          <p:cNvPr id="4" name="AutoShape 4"/>
          <p:cNvSpPr/>
          <p:nvPr/>
        </p:nvSpPr>
        <p:spPr>
          <a:xfrm>
            <a:off x="762000" y="1778000"/>
            <a:ext cx="3429000" cy="3048000"/>
          </a:xfrm>
          <a:prstGeom prst="roundRect">
            <a:avLst>
              <a:gd name="adj" fmla="val 0"/>
            </a:avLst>
          </a:prstGeom>
          <a:solidFill>
            <a:srgbClr val="2E5A8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3429000" cy="508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032000"/>
            <a:ext cx="406400" cy="406400"/>
          </a:xfrm>
          <a:prstGeom prst="rect">
            <a:avLst/>
          </a:prstGeom>
        </p:spPr>
      </p:pic>
      <p:sp>
        <p:nvSpPr>
          <p:cNvPr id="7" name="AutoShape 7"/>
          <p:cNvSpPr/>
          <p:nvPr/>
        </p:nvSpPr>
        <p:spPr>
          <a:xfrm>
            <a:off x="1524000" y="2032000"/>
            <a:ext cx="247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医保局 (Social Planner)</a:t>
            </a:r>
            <a:endParaRPr lang="en-US" sz="1100"/>
          </a:p>
        </p:txBody>
      </p:sp>
      <p:cxnSp>
        <p:nvCxnSpPr>
          <p:cNvPr id="8" name="Connector 8"/>
          <p:cNvCxnSpPr/>
          <p:nvPr/>
        </p:nvCxnSpPr>
        <p:spPr>
          <a:xfrm rot="-14323">
            <a:off x="952513" y="2660650"/>
            <a:ext cx="3048000" cy="12700"/>
          </a:xfrm>
          <a:prstGeom prst="straightConnector1">
            <a:avLst/>
          </a:prstGeom>
          <a:solidFill>
            <a:srgbClr val="DEE0E3">
              <a:alpha val="100000"/>
            </a:srgbClr>
          </a:solidFill>
          <a:ln w="12700" cap="flat" cmpd="sng">
            <a:solidFill>
              <a:srgbClr val="2E5A87">
                <a:alpha val="20000"/>
              </a:srgbClr>
            </a:solidFill>
            <a:prstDash val="solid"/>
            <a:round/>
            <a:headEnd type="none" w="med" len="med"/>
            <a:tailEnd type="none" w="med" len="med"/>
          </a:ln>
        </p:spPr>
      </p:cxnSp>
      <p:sp>
        <p:nvSpPr>
          <p:cNvPr id="9" name="AutoShape 9"/>
          <p:cNvSpPr/>
          <p:nvPr/>
        </p:nvSpPr>
        <p:spPr>
          <a:xfrm>
            <a:off x="952500" y="2857500"/>
            <a:ext cx="304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33333"/>
                </a:solidFill>
                <a:latin typeface="Noto Sans SC"/>
                <a:ea typeface="Noto Sans SC"/>
                <a:cs typeface="Noto Sans SC"/>
                <a:sym typeface="Noto Sans SC"/>
              </a:rPr>
              <a:t>核心目标：</a:t>
            </a:r>
            <a:r>
              <a:rPr lang="en-US" sz="1400" b="0" i="0" u="none" strike="noStrike">
                <a:solidFill>
                  <a:srgbClr val="525252"/>
                </a:solidFill>
                <a:latin typeface="Noto Sans SC"/>
                <a:ea typeface="Noto Sans SC"/>
                <a:cs typeface="Noto Sans SC"/>
                <a:sym typeface="Noto Sans SC"/>
              </a:rPr>
              <a:t>最大化社会总福利。兼顾患者用药可及性、医保基金的可持续性，同时鼓励医药行业的长期创新动力。</a:t>
            </a:r>
            <a:endParaRPr lang="en-US" sz="1100"/>
          </a:p>
        </p:txBody>
      </p:sp>
      <p:sp>
        <p:nvSpPr>
          <p:cNvPr id="10" name="AutoShape 10"/>
          <p:cNvSpPr/>
          <p:nvPr/>
        </p:nvSpPr>
        <p:spPr>
          <a:xfrm>
            <a:off x="4445000" y="1778000"/>
            <a:ext cx="3429000" cy="3048000"/>
          </a:xfrm>
          <a:prstGeom prst="roundRect">
            <a:avLst>
              <a:gd name="adj" fmla="val 0"/>
            </a:avLst>
          </a:prstGeom>
          <a:solidFill>
            <a:srgbClr val="2E5A8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45000" y="1778000"/>
            <a:ext cx="3429000" cy="508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2032000"/>
            <a:ext cx="406400" cy="406400"/>
          </a:xfrm>
          <a:prstGeom prst="rect">
            <a:avLst/>
          </a:prstGeom>
        </p:spPr>
      </p:pic>
      <p:sp>
        <p:nvSpPr>
          <p:cNvPr id="13" name="AutoShape 13"/>
          <p:cNvSpPr/>
          <p:nvPr/>
        </p:nvSpPr>
        <p:spPr>
          <a:xfrm>
            <a:off x="5207000" y="2032000"/>
            <a:ext cx="247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原研药厂 (Innovator)</a:t>
            </a:r>
            <a:endParaRPr lang="en-US" sz="1100"/>
          </a:p>
        </p:txBody>
      </p:sp>
      <p:cxnSp>
        <p:nvCxnSpPr>
          <p:cNvPr id="14" name="Connector 14"/>
          <p:cNvCxnSpPr/>
          <p:nvPr/>
        </p:nvCxnSpPr>
        <p:spPr>
          <a:xfrm rot="-14323">
            <a:off x="4635513" y="2660650"/>
            <a:ext cx="3048000" cy="12700"/>
          </a:xfrm>
          <a:prstGeom prst="straightConnector1">
            <a:avLst/>
          </a:prstGeom>
          <a:solidFill>
            <a:srgbClr val="DEE0E3">
              <a:alpha val="100000"/>
            </a:srgbClr>
          </a:solidFill>
          <a:ln w="12700" cap="flat" cmpd="sng">
            <a:solidFill>
              <a:srgbClr val="2E5A87">
                <a:alpha val="20000"/>
              </a:srgbClr>
            </a:solidFill>
            <a:prstDash val="solid"/>
            <a:round/>
            <a:headEnd type="none" w="med" len="med"/>
            <a:tailEnd type="none" w="med" len="med"/>
          </a:ln>
        </p:spPr>
      </p:cxnSp>
      <p:sp>
        <p:nvSpPr>
          <p:cNvPr id="15" name="AutoShape 15"/>
          <p:cNvSpPr/>
          <p:nvPr/>
        </p:nvSpPr>
        <p:spPr>
          <a:xfrm>
            <a:off x="4635500" y="2857500"/>
            <a:ext cx="304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33333"/>
                </a:solidFill>
                <a:latin typeface="Noto Sans SC"/>
                <a:ea typeface="Noto Sans SC"/>
                <a:cs typeface="Noto Sans SC"/>
                <a:sym typeface="Noto Sans SC"/>
              </a:rPr>
              <a:t>关键特征：</a:t>
            </a:r>
            <a:r>
              <a:rPr lang="en-US" sz="1400" b="0" i="0" u="none" strike="noStrike">
                <a:solidFill>
                  <a:srgbClr val="525252"/>
                </a:solidFill>
                <a:latin typeface="Noto Sans SC"/>
                <a:ea typeface="Noto Sans SC"/>
                <a:cs typeface="Noto Sans SC"/>
                <a:sym typeface="Noto Sans SC"/>
              </a:rPr>
              <a:t>拥有专利壁垒，承担高昂的研发与生产成本。在集采机制下，面临“降价以价换量”或“放弃市场”的关键决策。</a:t>
            </a:r>
            <a:endParaRPr lang="en-US" sz="1100"/>
          </a:p>
        </p:txBody>
      </p:sp>
      <p:sp>
        <p:nvSpPr>
          <p:cNvPr id="16" name="AutoShape 16"/>
          <p:cNvSpPr/>
          <p:nvPr/>
        </p:nvSpPr>
        <p:spPr>
          <a:xfrm>
            <a:off x="8001000" y="1778000"/>
            <a:ext cx="3429000" cy="3048000"/>
          </a:xfrm>
          <a:prstGeom prst="roundRect">
            <a:avLst>
              <a:gd name="adj" fmla="val 0"/>
            </a:avLst>
          </a:prstGeom>
          <a:solidFill>
            <a:srgbClr val="2E5A8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001000" y="1778000"/>
            <a:ext cx="3429000" cy="508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2032000"/>
            <a:ext cx="406400" cy="406400"/>
          </a:xfrm>
          <a:prstGeom prst="rect">
            <a:avLst/>
          </a:prstGeom>
        </p:spPr>
      </p:pic>
      <p:sp>
        <p:nvSpPr>
          <p:cNvPr id="19" name="AutoShape 19"/>
          <p:cNvSpPr/>
          <p:nvPr/>
        </p:nvSpPr>
        <p:spPr>
          <a:xfrm>
            <a:off x="8763000" y="2032000"/>
            <a:ext cx="247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仿制药厂 (Generic Competitors)</a:t>
            </a:r>
            <a:endParaRPr lang="en-US" sz="1100"/>
          </a:p>
        </p:txBody>
      </p:sp>
      <p:cxnSp>
        <p:nvCxnSpPr>
          <p:cNvPr id="20" name="Connector 20"/>
          <p:cNvCxnSpPr/>
          <p:nvPr/>
        </p:nvCxnSpPr>
        <p:spPr>
          <a:xfrm rot="-14323">
            <a:off x="8191513" y="2660650"/>
            <a:ext cx="3048000" cy="12700"/>
          </a:xfrm>
          <a:prstGeom prst="straightConnector1">
            <a:avLst/>
          </a:prstGeom>
          <a:solidFill>
            <a:srgbClr val="DEE0E3">
              <a:alpha val="100000"/>
            </a:srgbClr>
          </a:solidFill>
          <a:ln w="12700" cap="flat" cmpd="sng">
            <a:solidFill>
              <a:srgbClr val="2E5A87">
                <a:alpha val="20000"/>
              </a:srgbClr>
            </a:solidFill>
            <a:prstDash val="solid"/>
            <a:round/>
            <a:headEnd type="none" w="med" len="med"/>
            <a:tailEnd type="none" w="med" len="med"/>
          </a:ln>
        </p:spPr>
      </p:cxnSp>
      <p:sp>
        <p:nvSpPr>
          <p:cNvPr id="21" name="AutoShape 21"/>
          <p:cNvSpPr/>
          <p:nvPr/>
        </p:nvSpPr>
        <p:spPr>
          <a:xfrm>
            <a:off x="8191500" y="2857500"/>
            <a:ext cx="304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33333"/>
                </a:solidFill>
                <a:latin typeface="Noto Sans SC"/>
                <a:ea typeface="Noto Sans SC"/>
                <a:cs typeface="Noto Sans SC"/>
                <a:sym typeface="Noto Sans SC"/>
              </a:rPr>
              <a:t>市场角色：</a:t>
            </a:r>
            <a:r>
              <a:rPr lang="en-US" sz="1400" b="0" i="0" u="none" strike="noStrike">
                <a:solidFill>
                  <a:srgbClr val="525252"/>
                </a:solidFill>
                <a:latin typeface="Noto Sans SC"/>
                <a:ea typeface="Noto Sans SC"/>
                <a:cs typeface="Noto Sans SC"/>
                <a:sym typeface="Noto Sans SC"/>
              </a:rPr>
              <a:t>专利悬崖后进入市场，以低成本、低价格为核心竞争力。作为价格接受者，只要存在利润空间，就会持续进入市场参与竞争。</a:t>
            </a:r>
            <a:endParaRPr lang="en-US" sz="1100"/>
          </a:p>
        </p:txBody>
      </p:sp>
      <p:sp>
        <p:nvSpPr>
          <p:cNvPr id="22" name="AutoShape 22"/>
          <p:cNvSpPr/>
          <p:nvPr/>
        </p:nvSpPr>
        <p:spPr>
          <a:xfrm>
            <a:off x="762000" y="5207000"/>
            <a:ext cx="10668000" cy="1143000"/>
          </a:xfrm>
          <a:prstGeom prst="roundRect">
            <a:avLst>
              <a:gd name="adj" fmla="val 0"/>
            </a:avLst>
          </a:prstGeom>
          <a:solidFill>
            <a:srgbClr val="2E5A87">
              <a:alpha val="9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549900"/>
            <a:ext cx="457200" cy="457200"/>
          </a:xfrm>
          <a:prstGeom prst="rect">
            <a:avLst/>
          </a:prstGeom>
        </p:spPr>
      </p:pic>
      <p:sp>
        <p:nvSpPr>
          <p:cNvPr id="24" name="AutoShape 24"/>
          <p:cNvSpPr/>
          <p:nvPr/>
        </p:nvSpPr>
        <p:spPr>
          <a:xfrm>
            <a:off x="1905000" y="5334000"/>
            <a:ext cx="914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FFFFFF"/>
                </a:solidFill>
                <a:latin typeface="Noto Sans SC"/>
                <a:ea typeface="Noto Sans SC"/>
                <a:cs typeface="Noto Sans SC"/>
                <a:sym typeface="Noto Sans SC"/>
              </a:rPr>
              <a:t>核心冲突：</a:t>
            </a:r>
            <a:r>
              <a:rPr lang="en-US" sz="1400" b="0" i="0" u="none" strike="noStrike">
                <a:solidFill>
                  <a:srgbClr val="FFFFFF">
                    <a:alpha val="90196"/>
                  </a:srgbClr>
                </a:solidFill>
                <a:latin typeface="Noto Sans SC"/>
                <a:ea typeface="Noto Sans SC"/>
                <a:cs typeface="Noto Sans SC"/>
                <a:sym typeface="Noto Sans SC"/>
              </a:rPr>
              <a:t>医保局追求极致的价格管控以释放基金压力，而原研药厂需要维持合理的利润空间来覆盖沉没成本并支撑后续创新。仿制药厂的加入则进一步激化了这一矛盾，推动市场格局的重塑。</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核心概念与模型设定</a:t>
            </a:r>
            <a:endParaRPr lang="en-US" sz="1100"/>
          </a:p>
        </p:txBody>
      </p:sp>
      <p:sp>
        <p:nvSpPr>
          <p:cNvPr id="4" name="AutoShape 4"/>
          <p:cNvSpPr/>
          <p:nvPr/>
        </p:nvSpPr>
        <p:spPr>
          <a:xfrm>
            <a:off x="762000" y="1524000"/>
            <a:ext cx="10668000" cy="1397000"/>
          </a:xfrm>
          <a:prstGeom prst="roundRect">
            <a:avLst>
              <a:gd name="adj" fmla="val 0"/>
            </a:avLst>
          </a:prstGeom>
          <a:solidFill>
            <a:srgbClr val="FFFFFF">
              <a:alpha val="80000"/>
            </a:srgbClr>
          </a:solidFill>
          <a:ln w="12700" cap="flat" cmpd="sng">
            <a:solidFill>
              <a:srgbClr val="2E5A87">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76200" cy="13970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6510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2E5A87"/>
                </a:solidFill>
                <a:latin typeface="Noto Sans SC"/>
                <a:ea typeface="Noto Sans SC"/>
                <a:cs typeface="Noto Sans SC"/>
                <a:sym typeface="Noto Sans SC"/>
              </a:rPr>
              <a:t>关键概念：原研药的“退出阈值”（$\bar{p}$）</a:t>
            </a:r>
            <a:endParaRPr lang="en-US" sz="1100"/>
          </a:p>
          <a:p>
            <a:pPr marL="0" indent="0" algn="l">
              <a:lnSpc>
                <a:spcPct val="116666"/>
              </a:lnSpc>
            </a:pPr>
            <a:r>
              <a:rPr lang="en-US" sz="1400" b="0" i="0" u="none" strike="noStrike">
                <a:solidFill>
                  <a:srgbClr val="444444"/>
                </a:solidFill>
                <a:latin typeface="Noto Sans SC"/>
                <a:ea typeface="Noto Sans SC"/>
                <a:cs typeface="Noto Sans SC"/>
                <a:sym typeface="Noto Sans SC"/>
              </a:rPr>
              <a:t>当医保局设定的集采价格低于该阈值时，原研药厂将选择退出市场；若价格高于阈值，则愿意留存参与竞争。这一阈值是原研药厂在市场中决策“去留”的核心依据。</a:t>
            </a:r>
          </a:p>
        </p:txBody>
      </p:sp>
      <p:sp>
        <p:nvSpPr>
          <p:cNvPr id="7" name="AutoShape 7"/>
          <p:cNvSpPr/>
          <p:nvPr/>
        </p:nvSpPr>
        <p:spPr>
          <a:xfrm>
            <a:off x="762000" y="3302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a:ea typeface="Noto Sans SC"/>
                <a:cs typeface="Noto Sans SC"/>
                <a:sym typeface="Noto Sans SC"/>
              </a:rPr>
              <a:t>决定“退出阈值”的三大关键变量</a:t>
            </a:r>
            <a:endParaRPr lang="en-US" sz="1100"/>
          </a:p>
        </p:txBody>
      </p:sp>
      <p:sp>
        <p:nvSpPr>
          <p:cNvPr id="8" name="AutoShape 8"/>
          <p:cNvSpPr/>
          <p:nvPr/>
        </p:nvSpPr>
        <p:spPr>
          <a:xfrm>
            <a:off x="762000" y="3937000"/>
            <a:ext cx="3429000" cy="1714500"/>
          </a:xfrm>
          <a:prstGeom prst="roundRect">
            <a:avLst>
              <a:gd name="adj" fmla="val 0"/>
            </a:avLst>
          </a:prstGeom>
          <a:solidFill>
            <a:srgbClr val="FFFFFF">
              <a:alpha val="75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127500"/>
            <a:ext cx="355600" cy="355600"/>
          </a:xfrm>
          <a:prstGeom prst="rect">
            <a:avLst/>
          </a:prstGeom>
        </p:spPr>
      </p:pic>
      <p:sp>
        <p:nvSpPr>
          <p:cNvPr id="10" name="AutoShape 10"/>
          <p:cNvSpPr/>
          <p:nvPr/>
        </p:nvSpPr>
        <p:spPr>
          <a:xfrm>
            <a:off x="1397000" y="4089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5A87"/>
                </a:solidFill>
                <a:latin typeface="Noto Sans SC"/>
                <a:ea typeface="Noto Sans SC"/>
                <a:cs typeface="Noto Sans SC"/>
                <a:sym typeface="Noto Sans SC"/>
              </a:rPr>
              <a:t>原研药的生产与研发成本</a:t>
            </a:r>
            <a:endParaRPr lang="en-US" sz="1100"/>
          </a:p>
        </p:txBody>
      </p:sp>
      <p:cxnSp>
        <p:nvCxnSpPr>
          <p:cNvPr id="11" name="Connector 11"/>
          <p:cNvCxnSpPr/>
          <p:nvPr/>
        </p:nvCxnSpPr>
        <p:spPr>
          <a:xfrm rot="-14323">
            <a:off x="952513" y="4629150"/>
            <a:ext cx="30480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12" name="AutoShape 12"/>
          <p:cNvSpPr/>
          <p:nvPr/>
        </p:nvSpPr>
        <p:spPr>
          <a:xfrm>
            <a:off x="952500" y="4762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生产成本与研发、设备等固定投入越高，药厂维持运营所需的底线价格就越高，退出阈值也会相应抬升。</a:t>
            </a:r>
            <a:endParaRPr lang="en-US" sz="1100"/>
          </a:p>
        </p:txBody>
      </p:sp>
      <p:sp>
        <p:nvSpPr>
          <p:cNvPr id="13" name="AutoShape 13"/>
          <p:cNvSpPr/>
          <p:nvPr/>
        </p:nvSpPr>
        <p:spPr>
          <a:xfrm>
            <a:off x="4381500" y="3937000"/>
            <a:ext cx="3429000" cy="1714500"/>
          </a:xfrm>
          <a:prstGeom prst="roundRect">
            <a:avLst>
              <a:gd name="adj" fmla="val 0"/>
            </a:avLst>
          </a:prstGeom>
          <a:solidFill>
            <a:srgbClr val="FFFFFF">
              <a:alpha val="75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4127500"/>
            <a:ext cx="355600" cy="355600"/>
          </a:xfrm>
          <a:prstGeom prst="rect">
            <a:avLst/>
          </a:prstGeom>
        </p:spPr>
      </p:pic>
      <p:sp>
        <p:nvSpPr>
          <p:cNvPr id="15" name="AutoShape 15"/>
          <p:cNvSpPr/>
          <p:nvPr/>
        </p:nvSpPr>
        <p:spPr>
          <a:xfrm>
            <a:off x="5016500" y="4089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5A87"/>
                </a:solidFill>
                <a:latin typeface="Noto Sans SC"/>
                <a:ea typeface="Noto Sans SC"/>
                <a:cs typeface="Noto Sans SC"/>
                <a:sym typeface="Noto Sans SC"/>
              </a:rPr>
              <a:t>仿制药的市场竞争强度</a:t>
            </a:r>
            <a:endParaRPr lang="en-US" sz="1100"/>
          </a:p>
        </p:txBody>
      </p:sp>
      <p:cxnSp>
        <p:nvCxnSpPr>
          <p:cNvPr id="16" name="Connector 16"/>
          <p:cNvCxnSpPr/>
          <p:nvPr/>
        </p:nvCxnSpPr>
        <p:spPr>
          <a:xfrm rot="-14323">
            <a:off x="4572013" y="4629150"/>
            <a:ext cx="30480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17" name="AutoShape 17"/>
          <p:cNvSpPr/>
          <p:nvPr/>
        </p:nvSpPr>
        <p:spPr>
          <a:xfrm>
            <a:off x="4572000" y="4762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仿制药入局者越多、竞争越充分，原研药的利润空间被压缩，为覆盖成本，其能接受的退出阈值会越高。</a:t>
            </a:r>
            <a:endParaRPr lang="en-US" sz="1100"/>
          </a:p>
        </p:txBody>
      </p:sp>
      <p:sp>
        <p:nvSpPr>
          <p:cNvPr id="18" name="AutoShape 18"/>
          <p:cNvSpPr/>
          <p:nvPr/>
        </p:nvSpPr>
        <p:spPr>
          <a:xfrm>
            <a:off x="8001000" y="3937000"/>
            <a:ext cx="3429000" cy="1714500"/>
          </a:xfrm>
          <a:prstGeom prst="roundRect">
            <a:avLst>
              <a:gd name="adj" fmla="val 0"/>
            </a:avLst>
          </a:prstGeom>
          <a:solidFill>
            <a:srgbClr val="FFFFFF">
              <a:alpha val="75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91500" y="4127500"/>
            <a:ext cx="355600" cy="355600"/>
          </a:xfrm>
          <a:prstGeom prst="rect">
            <a:avLst/>
          </a:prstGeom>
        </p:spPr>
      </p:pic>
      <p:sp>
        <p:nvSpPr>
          <p:cNvPr id="20" name="AutoShape 20"/>
          <p:cNvSpPr/>
          <p:nvPr/>
        </p:nvSpPr>
        <p:spPr>
          <a:xfrm>
            <a:off x="8636000" y="4089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5A87"/>
                </a:solidFill>
                <a:latin typeface="Noto Sans SC"/>
                <a:ea typeface="Noto Sans SC"/>
                <a:cs typeface="Noto Sans SC"/>
                <a:sym typeface="Noto Sans SC"/>
              </a:rPr>
              <a:t>医保政策的报销比例</a:t>
            </a:r>
            <a:endParaRPr lang="en-US" sz="1100"/>
          </a:p>
        </p:txBody>
      </p:sp>
      <p:cxnSp>
        <p:nvCxnSpPr>
          <p:cNvPr id="21" name="Connector 21"/>
          <p:cNvCxnSpPr/>
          <p:nvPr/>
        </p:nvCxnSpPr>
        <p:spPr>
          <a:xfrm rot="-14323">
            <a:off x="8191513" y="4629150"/>
            <a:ext cx="30480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22" name="AutoShape 22"/>
          <p:cNvSpPr/>
          <p:nvPr/>
        </p:nvSpPr>
        <p:spPr>
          <a:xfrm>
            <a:off x="8191500" y="4762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医保报销比例越高，患者自付越少，药品市场需求越大，药厂可通过销量摊薄成本，从而降低退出阈值。</a:t>
            </a:r>
            <a:endParaRPr lang="en-US" sz="1100"/>
          </a:p>
        </p:txBody>
      </p:sp>
      <p:sp>
        <p:nvSpPr>
          <p:cNvPr id="23" name="AutoShape 23"/>
          <p:cNvSpPr/>
          <p:nvPr/>
        </p:nvSpPr>
        <p:spPr>
          <a:xfrm>
            <a:off x="762000" y="5905500"/>
            <a:ext cx="10668000" cy="698500"/>
          </a:xfrm>
          <a:prstGeom prst="roundRect">
            <a:avLst>
              <a:gd name="adj" fmla="val 0"/>
            </a:avLst>
          </a:prstGeom>
          <a:solidFill>
            <a:srgbClr val="2E5A87">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762000" y="5905500"/>
            <a:ext cx="50800" cy="6985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952500" y="5969000"/>
            <a:ext cx="10287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E5A87"/>
                </a:solidFill>
                <a:latin typeface="Noto Sans SC"/>
                <a:ea typeface="Noto Sans SC"/>
                <a:cs typeface="Noto Sans SC"/>
                <a:sym typeface="Noto Sans SC"/>
              </a:rPr>
              <a:t>通俗解读：</a:t>
            </a:r>
            <a:r>
              <a:rPr lang="en-US" sz="1400" b="0" i="0" u="none" strike="noStrike">
                <a:solidFill>
                  <a:srgbClr val="333333"/>
                </a:solidFill>
                <a:latin typeface="Noto Sans SC"/>
                <a:ea typeface="Noto Sans SC"/>
                <a:cs typeface="Noto Sans SC"/>
                <a:sym typeface="Noto Sans SC"/>
              </a:rPr>
              <a:t>“退出阈值”本质上是原研药厂的“心理底价”，是企业在综合考量生存成本与市场环境后，做出“坚守”或“离场”决策的临界点。</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核心概念与模型设定</a:t>
            </a:r>
            <a:endParaRPr lang="en-US" sz="1100"/>
          </a:p>
        </p:txBody>
      </p:sp>
      <p:sp>
        <p:nvSpPr>
          <p:cNvPr id="4" name="AutoShape 4"/>
          <p:cNvSpPr/>
          <p:nvPr/>
        </p:nvSpPr>
        <p:spPr>
          <a:xfrm>
            <a:off x="762000" y="1524000"/>
            <a:ext cx="10668000" cy="1143000"/>
          </a:xfrm>
          <a:prstGeom prst="roundRect">
            <a:avLst>
              <a:gd name="adj" fmla="val 0"/>
            </a:avLst>
          </a:prstGeom>
          <a:solidFill>
            <a:srgbClr val="2E5A8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76200" cy="11430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625600"/>
            <a:ext cx="10160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33333"/>
                </a:solidFill>
                <a:latin typeface="Noto Sans SC"/>
                <a:ea typeface="Noto Sans SC"/>
                <a:cs typeface="Noto Sans SC"/>
                <a:sym typeface="Noto Sans SC"/>
              </a:rPr>
              <a:t>当集采价格触及“退出阈值”导致原研药退市时，社会福利将发生一次关键的“跳跃”（$\Omega$）。其本质是市场结构突变引发的福利再分配，可用公式表达为：</a:t>
            </a:r>
            <a:r>
              <a:rPr lang="en-US" sz="1600" b="1" i="0" u="none" strike="noStrike">
                <a:solidFill>
                  <a:srgbClr val="2E5A87"/>
                </a:solidFill>
                <a:latin typeface="Noto Sans SC"/>
                <a:ea typeface="Noto Sans SC"/>
                <a:cs typeface="Noto Sans SC"/>
                <a:sym typeface="Noto Sans SC"/>
              </a:rPr>
              <a:t>福利跳跃 = 原研药退市的损失 - 仿制药替代的收益</a:t>
            </a:r>
            <a:endParaRPr lang="en-US" sz="1100"/>
          </a:p>
        </p:txBody>
      </p:sp>
      <p:sp>
        <p:nvSpPr>
          <p:cNvPr id="7" name="AutoShape 7"/>
          <p:cNvSpPr/>
          <p:nvPr/>
        </p:nvSpPr>
        <p:spPr>
          <a:xfrm>
            <a:off x="762000" y="3175000"/>
            <a:ext cx="3429000" cy="2667000"/>
          </a:xfrm>
          <a:prstGeom prst="roundRect">
            <a:avLst>
              <a:gd name="adj" fmla="val 0"/>
            </a:avLst>
          </a:prstGeom>
          <a:solidFill>
            <a:srgbClr val="FFFFFF">
              <a:alpha val="75000"/>
            </a:srgbClr>
          </a:solidFill>
          <a:ln w="12700" cap="flat" cmpd="sng">
            <a:solidFill>
              <a:srgbClr val="2E5A87">
                <a:alpha val="3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365500"/>
            <a:ext cx="355600" cy="355600"/>
          </a:xfrm>
          <a:prstGeom prst="rect">
            <a:avLst/>
          </a:prstGeom>
        </p:spPr>
      </p:pic>
      <p:sp>
        <p:nvSpPr>
          <p:cNvPr id="9" name="AutoShape 9"/>
          <p:cNvSpPr/>
          <p:nvPr/>
        </p:nvSpPr>
        <p:spPr>
          <a:xfrm>
            <a:off x="1460500" y="3327400"/>
            <a:ext cx="254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福利损失 (Negative)</a:t>
            </a:r>
            <a:endParaRPr lang="en-US" sz="1100"/>
          </a:p>
        </p:txBody>
      </p:sp>
      <p:cxnSp>
        <p:nvCxnSpPr>
          <p:cNvPr id="10" name="Connector 10"/>
          <p:cNvCxnSpPr/>
          <p:nvPr/>
        </p:nvCxnSpPr>
        <p:spPr>
          <a:xfrm rot="-14946">
            <a:off x="1016014" y="3930650"/>
            <a:ext cx="2921000" cy="12700"/>
          </a:xfrm>
          <a:prstGeom prst="straightConnector1">
            <a:avLst/>
          </a:prstGeom>
          <a:solidFill>
            <a:srgbClr val="DEE0E3">
              <a:alpha val="100000"/>
            </a:srgbClr>
          </a:solidFill>
          <a:ln w="12700" cap="flat" cmpd="sng">
            <a:solidFill>
              <a:srgbClr val="2E5A87">
                <a:alpha val="20000"/>
              </a:srgbClr>
            </a:solidFill>
            <a:prstDash val="solid"/>
            <a:round/>
            <a:headEnd type="none" w="med" len="med"/>
            <a:tailEnd type="none" w="med" len="med"/>
          </a:ln>
        </p:spPr>
      </p:cxnSp>
      <p:sp>
        <p:nvSpPr>
          <p:cNvPr id="11" name="AutoShape 11"/>
          <p:cNvSpPr/>
          <p:nvPr/>
        </p:nvSpPr>
        <p:spPr>
          <a:xfrm>
            <a:off x="1016000" y="4127500"/>
            <a:ext cx="2921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55555"/>
                </a:solidFill>
                <a:latin typeface="Noto Sans SC"/>
                <a:ea typeface="Noto Sans SC"/>
                <a:cs typeface="Noto Sans SC"/>
                <a:sym typeface="Noto Sans SC"/>
              </a:rPr>
              <a:t>主要源于两方面：一是患者丧失了疗效更优的原研药选择（价值$V_o$）；二是原研药厂前期投入的研发、专利等沉没固定成本（$F$）无法通过后续销售收回，造成社会资源的永久损耗。</a:t>
            </a:r>
            <a:endParaRPr lang="en-US" sz="1100"/>
          </a:p>
        </p:txBody>
      </p:sp>
      <p:sp>
        <p:nvSpPr>
          <p:cNvPr id="12" name="AutoShape 12"/>
          <p:cNvSpPr/>
          <p:nvPr/>
        </p:nvSpPr>
        <p:spPr>
          <a:xfrm>
            <a:off x="4381500" y="3175000"/>
            <a:ext cx="3429000" cy="2667000"/>
          </a:xfrm>
          <a:prstGeom prst="roundRect">
            <a:avLst>
              <a:gd name="adj" fmla="val 0"/>
            </a:avLst>
          </a:prstGeom>
          <a:solidFill>
            <a:srgbClr val="FFFFFF">
              <a:alpha val="75000"/>
            </a:srgbClr>
          </a:solidFill>
          <a:ln w="12700" cap="flat" cmpd="sng">
            <a:solidFill>
              <a:srgbClr val="EA8937">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3365500"/>
            <a:ext cx="355600" cy="355600"/>
          </a:xfrm>
          <a:prstGeom prst="rect">
            <a:avLst/>
          </a:prstGeom>
        </p:spPr>
      </p:pic>
      <p:sp>
        <p:nvSpPr>
          <p:cNvPr id="14" name="AutoShape 14"/>
          <p:cNvSpPr/>
          <p:nvPr/>
        </p:nvSpPr>
        <p:spPr>
          <a:xfrm>
            <a:off x="5080000" y="3327400"/>
            <a:ext cx="254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A8937"/>
                </a:solidFill>
                <a:latin typeface="Noto Sans SC"/>
                <a:ea typeface="Noto Sans SC"/>
                <a:cs typeface="Noto Sans SC"/>
                <a:sym typeface="Noto Sans SC"/>
              </a:rPr>
              <a:t>福利收益 (Positive)</a:t>
            </a:r>
            <a:endParaRPr lang="en-US" sz="1100"/>
          </a:p>
        </p:txBody>
      </p:sp>
      <p:cxnSp>
        <p:nvCxnSpPr>
          <p:cNvPr id="15" name="Connector 15"/>
          <p:cNvCxnSpPr/>
          <p:nvPr/>
        </p:nvCxnSpPr>
        <p:spPr>
          <a:xfrm rot="-14946">
            <a:off x="4635514" y="3930650"/>
            <a:ext cx="2921000" cy="12700"/>
          </a:xfrm>
          <a:prstGeom prst="straightConnector1">
            <a:avLst/>
          </a:prstGeom>
          <a:solidFill>
            <a:srgbClr val="DEE0E3">
              <a:alpha val="100000"/>
            </a:srgbClr>
          </a:solidFill>
          <a:ln w="12700" cap="flat" cmpd="sng">
            <a:solidFill>
              <a:srgbClr val="EA8937">
                <a:alpha val="20000"/>
              </a:srgbClr>
            </a:solidFill>
            <a:prstDash val="solid"/>
            <a:round/>
            <a:headEnd type="none" w="med" len="med"/>
            <a:tailEnd type="none" w="med" len="med"/>
          </a:ln>
        </p:spPr>
      </p:cxnSp>
      <p:sp>
        <p:nvSpPr>
          <p:cNvPr id="16" name="AutoShape 16"/>
          <p:cNvSpPr/>
          <p:nvPr/>
        </p:nvSpPr>
        <p:spPr>
          <a:xfrm>
            <a:off x="4635500" y="4127500"/>
            <a:ext cx="2921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555555"/>
                </a:solidFill>
                <a:latin typeface="Noto Sans SC"/>
                <a:ea typeface="Noto Sans SC"/>
                <a:cs typeface="Noto Sans SC"/>
                <a:sym typeface="Noto Sans SC"/>
              </a:rPr>
              <a:t>核心来自生产成本的节约：仿制药以成熟工艺生产，边际成本显著低于原研药。社会总生产成本的节省量可量化为 $N(c_o-c_g)D$，其中 $c_o$ 为原研药成本，$c_g$ 为仿制药成本，$N$ 为需求量，$D$ 为市场规模系数。</a:t>
            </a:r>
            <a:endParaRPr lang="en-US" sz="1100"/>
          </a:p>
        </p:txBody>
      </p:sp>
      <p:sp>
        <p:nvSpPr>
          <p:cNvPr id="17" name="AutoShape 17"/>
          <p:cNvSpPr/>
          <p:nvPr/>
        </p:nvSpPr>
        <p:spPr>
          <a:xfrm>
            <a:off x="8001000" y="3175000"/>
            <a:ext cx="3429000" cy="2667000"/>
          </a:xfrm>
          <a:prstGeom prst="roundRect">
            <a:avLst>
              <a:gd name="adj" fmla="val 0"/>
            </a:avLst>
          </a:prstGeom>
          <a:solidFill>
            <a:srgbClr val="FFFFFF">
              <a:alpha val="75000"/>
            </a:srgbClr>
          </a:solidFill>
          <a:ln w="12700" cap="flat" cmpd="sng">
            <a:solidFill>
              <a:srgbClr val="333333">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3365500"/>
            <a:ext cx="355600" cy="355600"/>
          </a:xfrm>
          <a:prstGeom prst="rect">
            <a:avLst/>
          </a:prstGeom>
        </p:spPr>
      </p:pic>
      <p:sp>
        <p:nvSpPr>
          <p:cNvPr id="19" name="AutoShape 19"/>
          <p:cNvSpPr/>
          <p:nvPr/>
        </p:nvSpPr>
        <p:spPr>
          <a:xfrm>
            <a:off x="8699500" y="3327400"/>
            <a:ext cx="2540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a:ea typeface="Noto Sans SC"/>
                <a:cs typeface="Noto Sans SC"/>
                <a:sym typeface="Noto Sans SC"/>
              </a:rPr>
              <a:t>社会福利净效应判断</a:t>
            </a:r>
            <a:endParaRPr lang="en-US" sz="1100"/>
          </a:p>
        </p:txBody>
      </p:sp>
      <p:cxnSp>
        <p:nvCxnSpPr>
          <p:cNvPr id="20" name="Connector 20"/>
          <p:cNvCxnSpPr/>
          <p:nvPr/>
        </p:nvCxnSpPr>
        <p:spPr>
          <a:xfrm rot="-14946">
            <a:off x="8255014" y="3930650"/>
            <a:ext cx="2921000" cy="12700"/>
          </a:xfrm>
          <a:prstGeom prst="straightConnector1">
            <a:avLst/>
          </a:prstGeom>
          <a:solidFill>
            <a:srgbClr val="DEE0E3">
              <a:alpha val="100000"/>
            </a:srgbClr>
          </a:solidFill>
          <a:ln w="12700" cap="flat" cmpd="sng">
            <a:solidFill>
              <a:srgbClr val="333333">
                <a:alpha val="20000"/>
              </a:srgbClr>
            </a:solidFill>
            <a:prstDash val="solid"/>
            <a:round/>
            <a:headEnd type="none" w="med" len="med"/>
            <a:tailEnd type="none" w="med" len="med"/>
          </a:ln>
        </p:spPr>
      </p:cxnSp>
      <p:sp>
        <p:nvSpPr>
          <p:cNvPr id="21" name="AutoShape 21"/>
          <p:cNvSpPr/>
          <p:nvPr/>
        </p:nvSpPr>
        <p:spPr>
          <a:xfrm>
            <a:off x="8255000" y="4127500"/>
            <a:ext cx="2921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E5A87"/>
                </a:solidFill>
                <a:latin typeface="Noto Sans SC"/>
                <a:ea typeface="Noto Sans SC"/>
                <a:cs typeface="Noto Sans SC"/>
                <a:sym typeface="Noto Sans SC"/>
              </a:rPr>
              <a:t>若 $\Omega &gt; 0$：</a:t>
            </a:r>
            <a:r>
              <a:rPr lang="en-US" sz="1400" b="0" i="0" u="none" strike="noStrike">
                <a:solidFill>
                  <a:srgbClr val="555555"/>
                </a:solidFill>
                <a:latin typeface="Noto Sans SC"/>
                <a:ea typeface="Noto Sans SC"/>
                <a:cs typeface="Noto Sans SC"/>
                <a:sym typeface="Noto Sans SC"/>
              </a:rPr>
              <a:t>损失大于收益，原研药退市导致社会总福利下降，政策需谨慎干预。</a:t>
            </a:r>
            <a:endParaRPr lang="en-US" sz="1100"/>
          </a:p>
          <a:p>
            <a:pPr marL="0" indent="0" algn="l">
              <a:lnSpc>
                <a:spcPct val="125000"/>
              </a:lnSpc>
            </a:pPr>
            <a:r>
              <a:rPr lang="en-US" sz="1400" b="1" i="0" u="none" strike="noStrike">
                <a:solidFill>
                  <a:srgbClr val="EA8937"/>
                </a:solidFill>
                <a:latin typeface="Noto Sans SC"/>
                <a:ea typeface="Noto Sans SC"/>
                <a:cs typeface="Noto Sans SC"/>
                <a:sym typeface="Noto Sans SC"/>
              </a:rPr>
              <a:t>若 $\Omega &lt; 0$：</a:t>
            </a:r>
            <a:r>
              <a:rPr lang="en-US" sz="1400" b="0" i="0" u="none" strike="noStrike">
                <a:solidFill>
                  <a:srgbClr val="555555"/>
                </a:solidFill>
                <a:latin typeface="Noto Sans SC"/>
                <a:ea typeface="Noto Sans SC"/>
                <a:cs typeface="Noto Sans SC"/>
                <a:sym typeface="Noto Sans SC"/>
              </a:rPr>
              <a:t>收益大于损失，市场更替提升了整体社会福利，政策导向具备合理性。</a:t>
            </a:r>
          </a:p>
        </p:txBody>
      </p:sp>
      <p:sp>
        <p:nvSpPr>
          <p:cNvPr id="22" name="AutoShape 22"/>
          <p:cNvSpPr/>
          <p:nvPr/>
        </p:nvSpPr>
        <p:spPr>
          <a:xfrm>
            <a:off x="762000" y="6096000"/>
            <a:ext cx="10668000" cy="508000"/>
          </a:xfrm>
          <a:prstGeom prst="roundRect">
            <a:avLst>
              <a:gd name="adj" fmla="val 0"/>
            </a:avLst>
          </a:prstGeom>
          <a:solidFill>
            <a:srgbClr val="2E5A87">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16000" y="61976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E5A87"/>
                </a:solidFill>
                <a:latin typeface="Noto Sans SC"/>
                <a:ea typeface="Noto Sans SC"/>
                <a:cs typeface="Noto Sans SC"/>
                <a:sym typeface="Noto Sans SC"/>
              </a:rPr>
              <a:t>核心洞察：社会福利的“跳跃”方向，是衡量集采政策干预边界的关键量化标尺。</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03 核心结论解读</a:t>
            </a:r>
            <a:endParaRPr lang="en-US" sz="1100"/>
          </a:p>
        </p:txBody>
      </p:sp>
      <p:sp>
        <p:nvSpPr>
          <p:cNvPr id="4" name="AutoShape 4"/>
          <p:cNvSpPr/>
          <p:nvPr/>
        </p:nvSpPr>
        <p:spPr>
          <a:xfrm>
            <a:off x="762000" y="1651000"/>
            <a:ext cx="10668000" cy="1143000"/>
          </a:xfrm>
          <a:prstGeom prst="roundRect">
            <a:avLst>
              <a:gd name="adj" fmla="val 0"/>
            </a:avLst>
          </a:prstGeom>
          <a:solidFill>
            <a:srgbClr val="2E5A87">
              <a:alpha val="10000"/>
            </a:srgbClr>
          </a:solidFill>
          <a:ln w="12700" cap="flat" cmpd="sng">
            <a:solidFill>
              <a:srgbClr val="2E5A87">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76200" cy="11430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778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2E5A87"/>
                </a:solidFill>
                <a:latin typeface="Noto Sans SC"/>
                <a:ea typeface="Noto Sans SC"/>
                <a:cs typeface="Noto Sans SC"/>
                <a:sym typeface="Noto Sans SC"/>
              </a:rPr>
              <a:t>核心命题：</a:t>
            </a:r>
            <a:r>
              <a:rPr lang="en-US" sz="1600" b="0" i="0" u="none" strike="noStrike">
                <a:solidFill>
                  <a:srgbClr val="333333"/>
                </a:solidFill>
                <a:latin typeface="Noto Sans SC"/>
                <a:ea typeface="Noto Sans SC"/>
                <a:cs typeface="Noto Sans SC"/>
                <a:sym typeface="Noto Sans SC"/>
              </a:rPr>
              <a:t>医保报销比例越高（即患者自付越少），原研药的“退出阈值”就越低。这意味着更高的医保保障水平，能有效降低药企参与集采的心理底价。</a:t>
            </a:r>
            <a:endParaRPr lang="en-US" sz="1100"/>
          </a:p>
        </p:txBody>
      </p:sp>
      <p:sp>
        <p:nvSpPr>
          <p:cNvPr id="7" name="AutoShape 7"/>
          <p:cNvSpPr/>
          <p:nvPr/>
        </p:nvSpPr>
        <p:spPr>
          <a:xfrm>
            <a:off x="762000" y="3302000"/>
            <a:ext cx="5270500" cy="2413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492500"/>
            <a:ext cx="304800" cy="304800"/>
          </a:xfrm>
          <a:prstGeom prst="rect">
            <a:avLst/>
          </a:prstGeom>
        </p:spPr>
      </p:pic>
      <p:sp>
        <p:nvSpPr>
          <p:cNvPr id="9" name="AutoShape 9"/>
          <p:cNvSpPr/>
          <p:nvPr/>
        </p:nvSpPr>
        <p:spPr>
          <a:xfrm>
            <a:off x="1397000" y="34544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市场逻辑的通俗推演</a:t>
            </a:r>
            <a:endParaRPr lang="en-US" sz="1100"/>
          </a:p>
        </p:txBody>
      </p:sp>
      <p:cxnSp>
        <p:nvCxnSpPr>
          <p:cNvPr id="10" name="Connector 10"/>
          <p:cNvCxnSpPr/>
          <p:nvPr/>
        </p:nvCxnSpPr>
        <p:spPr>
          <a:xfrm rot="-9046">
            <a:off x="952508" y="3994150"/>
            <a:ext cx="4826000" cy="12700"/>
          </a:xfrm>
          <a:prstGeom prst="straightConnector1">
            <a:avLst/>
          </a:prstGeom>
          <a:solidFill>
            <a:srgbClr val="DEE0E3">
              <a:alpha val="100000"/>
            </a:srgbClr>
          </a:solidFill>
          <a:ln w="12700" cap="flat" cmpd="sng">
            <a:solidFill>
              <a:srgbClr val="2E5A87">
                <a:alpha val="20000"/>
              </a:srgbClr>
            </a:solidFill>
            <a:prstDash val="solid"/>
            <a:round/>
            <a:headEnd type="none" w="med" len="med"/>
            <a:tailEnd type="none" w="med" len="med"/>
          </a:ln>
        </p:spPr>
      </p:cxnSp>
      <p:sp>
        <p:nvSpPr>
          <p:cNvPr id="11" name="AutoShape 11"/>
          <p:cNvSpPr/>
          <p:nvPr/>
        </p:nvSpPr>
        <p:spPr>
          <a:xfrm>
            <a:off x="952500" y="41910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3C3C"/>
                </a:solidFill>
                <a:latin typeface="Noto Sans SC"/>
                <a:ea typeface="Noto Sans SC"/>
                <a:cs typeface="Noto Sans SC"/>
                <a:sym typeface="Noto Sans SC"/>
              </a:rPr>
              <a:t>当医保报销比例提升，患者的实际购药成本降低，直接刺激市场需求放量。对药企而言，虽然药品单价因集采有所下降，但巨大的销量足以弥补单价损失，实现“以价换量、量价齐升”的总利润平衡，因此更愿意接受较低的集采报价。</a:t>
            </a:r>
            <a:endParaRPr lang="en-US" sz="1100"/>
          </a:p>
        </p:txBody>
      </p:sp>
      <p:sp>
        <p:nvSpPr>
          <p:cNvPr id="12" name="AutoShape 12"/>
          <p:cNvSpPr/>
          <p:nvPr/>
        </p:nvSpPr>
        <p:spPr>
          <a:xfrm>
            <a:off x="6286500" y="3302000"/>
            <a:ext cx="5270500" cy="2413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492500"/>
            <a:ext cx="304800" cy="304800"/>
          </a:xfrm>
          <a:prstGeom prst="rect">
            <a:avLst/>
          </a:prstGeom>
        </p:spPr>
      </p:pic>
      <p:sp>
        <p:nvSpPr>
          <p:cNvPr id="14" name="AutoShape 14"/>
          <p:cNvSpPr/>
          <p:nvPr/>
        </p:nvSpPr>
        <p:spPr>
          <a:xfrm>
            <a:off x="6921500" y="34544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落地执行的政策启示</a:t>
            </a:r>
            <a:endParaRPr lang="en-US" sz="1100"/>
          </a:p>
        </p:txBody>
      </p:sp>
      <p:cxnSp>
        <p:nvCxnSpPr>
          <p:cNvPr id="15" name="Connector 15"/>
          <p:cNvCxnSpPr/>
          <p:nvPr/>
        </p:nvCxnSpPr>
        <p:spPr>
          <a:xfrm rot="-9046">
            <a:off x="6477008" y="3994150"/>
            <a:ext cx="4826000" cy="12700"/>
          </a:xfrm>
          <a:prstGeom prst="straightConnector1">
            <a:avLst/>
          </a:prstGeom>
          <a:solidFill>
            <a:srgbClr val="DEE0E3">
              <a:alpha val="100000"/>
            </a:srgbClr>
          </a:solidFill>
          <a:ln w="12700" cap="flat" cmpd="sng">
            <a:solidFill>
              <a:srgbClr val="2E5A87">
                <a:alpha val="20000"/>
              </a:srgbClr>
            </a:solidFill>
            <a:prstDash val="solid"/>
            <a:round/>
            <a:headEnd type="none" w="med" len="med"/>
            <a:tailEnd type="none" w="med" len="med"/>
          </a:ln>
        </p:spPr>
      </p:cxnSp>
      <p:sp>
        <p:nvSpPr>
          <p:cNvPr id="16" name="AutoShape 16"/>
          <p:cNvSpPr/>
          <p:nvPr/>
        </p:nvSpPr>
        <p:spPr>
          <a:xfrm>
            <a:off x="6477000" y="4191000"/>
            <a:ext cx="488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3C3C"/>
                </a:solidFill>
                <a:latin typeface="Noto Sans SC"/>
                <a:ea typeface="Noto Sans SC"/>
                <a:cs typeface="Noto Sans SC"/>
                <a:sym typeface="Noto Sans SC"/>
              </a:rPr>
              <a:t>集采降价不应孤立推进，需与医保报销政策协同发力。扩大医保覆盖面、提高报销比例，是增强药企降价承受力、稳定市场供给的关键配套措施。这不仅能减轻患者负担，更能保障集采机制的可持续性，实现多方共赢。</a:t>
            </a:r>
            <a:endParaRPr lang="en-US" sz="1100"/>
          </a:p>
        </p:txBody>
      </p:sp>
      <p:sp>
        <p:nvSpPr>
          <p:cNvPr id="17" name="AutoShape 17"/>
          <p:cNvSpPr/>
          <p:nvPr/>
        </p:nvSpPr>
        <p:spPr>
          <a:xfrm>
            <a:off x="762000" y="5969000"/>
            <a:ext cx="10668000" cy="635000"/>
          </a:xfrm>
          <a:prstGeom prst="roundRect">
            <a:avLst>
              <a:gd name="adj" fmla="val 0"/>
            </a:avLst>
          </a:prstGeom>
          <a:solidFill>
            <a:srgbClr val="2E5A87">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52500" y="6070600"/>
            <a:ext cx="10287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E5A87"/>
                </a:solidFill>
                <a:latin typeface="Noto Sans SC"/>
                <a:ea typeface="Noto Sans SC"/>
                <a:cs typeface="Noto Sans SC"/>
                <a:sym typeface="Noto Sans SC"/>
              </a:rPr>
              <a:t>总结：</a:t>
            </a:r>
            <a:r>
              <a:rPr lang="en-US" sz="1400" b="0" i="0" u="none" strike="noStrike">
                <a:solidFill>
                  <a:srgbClr val="333333"/>
                </a:solidFill>
                <a:latin typeface="Noto Sans SC"/>
                <a:ea typeface="Noto Sans SC"/>
                <a:cs typeface="Noto Sans SC"/>
                <a:sym typeface="Noto Sans SC"/>
              </a:rPr>
              <a:t>医保报销的“托底”作用是破解原研药降价僵局的重要杠杆，为药品集采的常态化、制度化提供了坚实的经济基础。</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03 核心结论解读</a:t>
            </a:r>
            <a:endParaRPr lang="en-US" sz="1100"/>
          </a:p>
        </p:txBody>
      </p:sp>
      <p:sp>
        <p:nvSpPr>
          <p:cNvPr id="4" name="AutoShape 4"/>
          <p:cNvSpPr/>
          <p:nvPr/>
        </p:nvSpPr>
        <p:spPr>
          <a:xfrm>
            <a:off x="762000" y="1397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E5A87"/>
                </a:solidFill>
                <a:latin typeface="Noto Sans SC"/>
                <a:ea typeface="Noto Sans SC"/>
                <a:cs typeface="Noto Sans SC"/>
                <a:sym typeface="Noto Sans SC"/>
              </a:rPr>
              <a:t>结论二：集采降价一定导致福利损失吗？不一定！这取决于“福利跳跃”的正负。</a:t>
            </a:r>
            <a:endParaRPr lang="en-US" sz="1100"/>
          </a:p>
        </p:txBody>
      </p:sp>
      <p:cxnSp>
        <p:nvCxnSpPr>
          <p:cNvPr id="5" name="Connector 5"/>
          <p:cNvCxnSpPr/>
          <p:nvPr/>
        </p:nvCxnSpPr>
        <p:spPr>
          <a:xfrm rot="-4092">
            <a:off x="762004" y="2216150"/>
            <a:ext cx="10668000" cy="12700"/>
          </a:xfrm>
          <a:prstGeom prst="straightConnector1">
            <a:avLst/>
          </a:prstGeom>
          <a:solidFill>
            <a:srgbClr val="DEE0E3">
              <a:alpha val="100000"/>
            </a:srgbClr>
          </a:solidFill>
          <a:ln w="12700" cap="flat" cmpd="sng">
            <a:solidFill>
              <a:srgbClr val="2E5A87">
                <a:alpha val="30000"/>
              </a:srgbClr>
            </a:solidFill>
            <a:prstDash val="solid"/>
            <a:round/>
            <a:headEnd type="none" w="med" len="med"/>
            <a:tailEnd type="none" w="med" len="med"/>
          </a:ln>
        </p:spPr>
      </p:cxnSp>
      <p:sp>
        <p:nvSpPr>
          <p:cNvPr id="6" name="AutoShape 6"/>
          <p:cNvSpPr/>
          <p:nvPr/>
        </p:nvSpPr>
        <p:spPr>
          <a:xfrm>
            <a:off x="762000" y="2413000"/>
            <a:ext cx="5270500" cy="2667000"/>
          </a:xfrm>
          <a:prstGeom prst="roundRect">
            <a:avLst>
              <a:gd name="adj" fmla="val 0"/>
            </a:avLst>
          </a:prstGeom>
          <a:solidFill>
            <a:srgbClr val="FFFFFF">
              <a:alpha val="75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413000"/>
            <a:ext cx="76200" cy="2667000"/>
          </a:xfrm>
          <a:prstGeom prst="roundRect">
            <a:avLst>
              <a:gd name="adj" fmla="val 0"/>
            </a:avLst>
          </a:prstGeom>
          <a:solidFill>
            <a:srgbClr val="EA580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25400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情景一：$\Omega &gt; 0$ (社会福利净损失)</a:t>
            </a:r>
            <a:endParaRPr lang="en-US" sz="1100"/>
          </a:p>
        </p:txBody>
      </p:sp>
      <p:cxnSp>
        <p:nvCxnSpPr>
          <p:cNvPr id="9" name="Connector 9"/>
          <p:cNvCxnSpPr/>
          <p:nvPr/>
        </p:nvCxnSpPr>
        <p:spPr>
          <a:xfrm rot="-9167">
            <a:off x="1016008" y="3105150"/>
            <a:ext cx="4762500" cy="12700"/>
          </a:xfrm>
          <a:prstGeom prst="straightConnector1">
            <a:avLst/>
          </a:prstGeom>
          <a:solidFill>
            <a:srgbClr val="DEE0E3">
              <a:alpha val="100000"/>
            </a:srgbClr>
          </a:solidFill>
          <a:ln w="12700" cap="flat" cmpd="sng">
            <a:solidFill>
              <a:srgbClr val="2E5A87">
                <a:alpha val="15000"/>
              </a:srgbClr>
            </a:solidFill>
            <a:prstDash val="dash"/>
            <a:round/>
            <a:headEnd type="none" w="med" len="med"/>
            <a:tailEnd type="none" w="med" len="med"/>
          </a:ln>
        </p:spPr>
      </p:cxnSp>
      <p:sp>
        <p:nvSpPr>
          <p:cNvPr id="10" name="AutoShape 10"/>
          <p:cNvSpPr/>
          <p:nvPr/>
        </p:nvSpPr>
        <p:spPr>
          <a:xfrm>
            <a:off x="1016000" y="3238500"/>
            <a:ext cx="4762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33333"/>
                </a:solidFill>
                <a:latin typeface="Noto Sans SC"/>
                <a:ea typeface="Noto Sans SC"/>
                <a:cs typeface="Noto Sans SC"/>
                <a:sym typeface="Noto Sans SC"/>
              </a:rPr>
              <a:t>发生条件：</a:t>
            </a:r>
            <a:r>
              <a:rPr lang="en-US" sz="1400" b="0" i="0" u="none" strike="noStrike">
                <a:solidFill>
                  <a:srgbClr val="525252"/>
                </a:solidFill>
                <a:latin typeface="Noto Sans SC"/>
                <a:ea typeface="Noto Sans SC"/>
                <a:cs typeface="Noto Sans SC"/>
                <a:sym typeface="Noto Sans SC"/>
              </a:rPr>
              <a:t>原研药具有极大的疗效优势($V_o$)，或研发固定成本($F$)极高，仿制药难以完全弥补其价值。</a:t>
            </a:r>
            <a:endParaRPr lang="en-US" sz="1100"/>
          </a:p>
          <a:p>
            <a:pPr marL="0" indent="0" algn="l">
              <a:lnSpc>
                <a:spcPct val="108333"/>
              </a:lnSpc>
            </a:pPr>
            <a:r>
              <a:rPr lang="en-US" sz="1400" b="1" i="0" u="none" strike="noStrike">
                <a:solidFill>
                  <a:srgbClr val="333333"/>
                </a:solidFill>
                <a:latin typeface="Noto Sans SC"/>
                <a:ea typeface="Noto Sans SC"/>
                <a:cs typeface="Noto Sans SC"/>
                <a:sym typeface="Noto Sans SC"/>
              </a:rPr>
              <a:t>结果与建议：</a:t>
            </a:r>
            <a:r>
              <a:rPr lang="en-US" sz="1400" b="0" i="0" u="none" strike="noStrike">
                <a:solidFill>
                  <a:srgbClr val="525252"/>
                </a:solidFill>
                <a:latin typeface="Noto Sans SC"/>
                <a:ea typeface="Noto Sans SC"/>
                <a:cs typeface="Noto Sans SC"/>
                <a:sym typeface="Noto Sans SC"/>
              </a:rPr>
              <a:t>原研药退市将显著降低社会总福利。此时医保局应保留合理溢价，维持其市场存在。</a:t>
            </a:r>
          </a:p>
        </p:txBody>
      </p:sp>
      <p:sp>
        <p:nvSpPr>
          <p:cNvPr id="11" name="AutoShape 11"/>
          <p:cNvSpPr/>
          <p:nvPr/>
        </p:nvSpPr>
        <p:spPr>
          <a:xfrm>
            <a:off x="6159500" y="2413000"/>
            <a:ext cx="5270500" cy="2667000"/>
          </a:xfrm>
          <a:prstGeom prst="roundRect">
            <a:avLst>
              <a:gd name="adj" fmla="val 0"/>
            </a:avLst>
          </a:prstGeom>
          <a:solidFill>
            <a:srgbClr val="FFFFFF">
              <a:alpha val="75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159500" y="2413000"/>
            <a:ext cx="76200" cy="26670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413500" y="25400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情景二：$\Omega &lt; 0$ (社会福利净提升)</a:t>
            </a:r>
            <a:endParaRPr lang="en-US" sz="1100"/>
          </a:p>
        </p:txBody>
      </p:sp>
      <p:cxnSp>
        <p:nvCxnSpPr>
          <p:cNvPr id="14" name="Connector 14"/>
          <p:cNvCxnSpPr/>
          <p:nvPr/>
        </p:nvCxnSpPr>
        <p:spPr>
          <a:xfrm rot="-9167">
            <a:off x="6413508" y="3105150"/>
            <a:ext cx="4762500" cy="12700"/>
          </a:xfrm>
          <a:prstGeom prst="straightConnector1">
            <a:avLst/>
          </a:prstGeom>
          <a:solidFill>
            <a:srgbClr val="DEE0E3">
              <a:alpha val="100000"/>
            </a:srgbClr>
          </a:solidFill>
          <a:ln w="12700" cap="flat" cmpd="sng">
            <a:solidFill>
              <a:srgbClr val="2E5A87">
                <a:alpha val="15000"/>
              </a:srgbClr>
            </a:solidFill>
            <a:prstDash val="dash"/>
            <a:round/>
            <a:headEnd type="none" w="med" len="med"/>
            <a:tailEnd type="none" w="med" len="med"/>
          </a:ln>
        </p:spPr>
      </p:cxnSp>
      <p:sp>
        <p:nvSpPr>
          <p:cNvPr id="15" name="AutoShape 15"/>
          <p:cNvSpPr/>
          <p:nvPr/>
        </p:nvSpPr>
        <p:spPr>
          <a:xfrm>
            <a:off x="6413500" y="3238500"/>
            <a:ext cx="4762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333333"/>
                </a:solidFill>
                <a:latin typeface="Noto Sans SC"/>
                <a:ea typeface="Noto Sans SC"/>
                <a:cs typeface="Noto Sans SC"/>
                <a:sym typeface="Noto Sans SC"/>
              </a:rPr>
              <a:t>发生条件：</a:t>
            </a:r>
            <a:r>
              <a:rPr lang="en-US" sz="1400" b="0" i="0" u="none" strike="noStrike">
                <a:solidFill>
                  <a:srgbClr val="525252"/>
                </a:solidFill>
                <a:latin typeface="Noto Sans SC"/>
                <a:ea typeface="Noto Sans SC"/>
                <a:cs typeface="Noto Sans SC"/>
                <a:sym typeface="Noto Sans SC"/>
              </a:rPr>
              <a:t>原研药疗效优势微弱，或仿制药具备极强的成本优势，足以覆盖原研药退市的效用缺口。</a:t>
            </a:r>
            <a:endParaRPr lang="en-US" sz="1100"/>
          </a:p>
          <a:p>
            <a:pPr marL="0" indent="0" algn="l">
              <a:lnSpc>
                <a:spcPct val="108333"/>
              </a:lnSpc>
            </a:pPr>
            <a:r>
              <a:rPr lang="en-US" sz="1400" b="1" i="0" u="none" strike="noStrike">
                <a:solidFill>
                  <a:srgbClr val="333333"/>
                </a:solidFill>
                <a:latin typeface="Noto Sans SC"/>
                <a:ea typeface="Noto Sans SC"/>
                <a:cs typeface="Noto Sans SC"/>
                <a:sym typeface="Noto Sans SC"/>
              </a:rPr>
              <a:t>结果与建议：</a:t>
            </a:r>
            <a:r>
              <a:rPr lang="en-US" sz="1400" b="0" i="0" u="none" strike="noStrike">
                <a:solidFill>
                  <a:srgbClr val="525252"/>
                </a:solidFill>
                <a:latin typeface="Noto Sans SC"/>
                <a:ea typeface="Noto Sans SC"/>
                <a:cs typeface="Noto Sans SC"/>
                <a:sym typeface="Noto Sans SC"/>
              </a:rPr>
              <a:t>原研药退市可释放大量生产资源，优化社会配置。此时应坚决执行价格谈判，无需过度保护。</a:t>
            </a:r>
          </a:p>
        </p:txBody>
      </p:sp>
      <p:sp>
        <p:nvSpPr>
          <p:cNvPr id="16" name="AutoShape 16"/>
          <p:cNvSpPr/>
          <p:nvPr/>
        </p:nvSpPr>
        <p:spPr>
          <a:xfrm>
            <a:off x="762000" y="5461000"/>
            <a:ext cx="10668000" cy="952500"/>
          </a:xfrm>
          <a:prstGeom prst="roundRect">
            <a:avLst>
              <a:gd name="adj" fmla="val 0"/>
            </a:avLst>
          </a:prstGeom>
          <a:solidFill>
            <a:srgbClr val="2E5A87">
              <a:alpha val="9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651500"/>
            <a:ext cx="558800" cy="558800"/>
          </a:xfrm>
          <a:prstGeom prst="rect">
            <a:avLst/>
          </a:prstGeom>
        </p:spPr>
      </p:pic>
      <p:sp>
        <p:nvSpPr>
          <p:cNvPr id="18" name="AutoShape 18"/>
          <p:cNvSpPr/>
          <p:nvPr/>
        </p:nvSpPr>
        <p:spPr>
          <a:xfrm>
            <a:off x="1778000" y="5562600"/>
            <a:ext cx="939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FFFFFF"/>
                </a:solidFill>
                <a:latin typeface="Noto Sans SC"/>
                <a:ea typeface="Noto Sans SC"/>
                <a:cs typeface="Noto Sans SC"/>
                <a:sym typeface="Noto Sans SC"/>
              </a:rPr>
              <a:t>核心思想：决策不能一概而论。</a:t>
            </a:r>
            <a:r>
              <a:rPr lang="en-US" sz="1400" b="0" i="0" u="none" strike="noStrike">
                <a:solidFill>
                  <a:srgbClr val="FFFFFF">
                    <a:alpha val="90196"/>
                  </a:srgbClr>
                </a:solidFill>
                <a:latin typeface="Noto Sans SC"/>
                <a:ea typeface="Noto Sans SC"/>
                <a:cs typeface="Noto Sans SC"/>
                <a:sym typeface="Noto Sans SC"/>
              </a:rPr>
              <a:t>医保政策制定的关键在于对每一个药品进行精细化的“价值评估”，在保障可及性的同时，最大化社会整体福利。</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03 核心结论解读</a:t>
            </a:r>
            <a:endParaRPr lang="en-US" sz="1100"/>
          </a:p>
        </p:txBody>
      </p:sp>
      <p:sp>
        <p:nvSpPr>
          <p:cNvPr id="4" name="AutoShape 4"/>
          <p:cNvSpPr/>
          <p:nvPr/>
        </p:nvSpPr>
        <p:spPr>
          <a:xfrm>
            <a:off x="762000" y="1524000"/>
            <a:ext cx="10668000" cy="1079500"/>
          </a:xfrm>
          <a:prstGeom prst="roundRect">
            <a:avLst>
              <a:gd name="adj" fmla="val 0"/>
            </a:avLst>
          </a:prstGeom>
          <a:solidFill>
            <a:srgbClr val="2E5A8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76200" cy="10795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6510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a:solidFill>
                  <a:srgbClr val="2E5A87"/>
                </a:solidFill>
                <a:latin typeface="Noto Sans SC"/>
                <a:ea typeface="Noto Sans SC"/>
                <a:cs typeface="Noto Sans SC"/>
                <a:sym typeface="Noto Sans SC"/>
              </a:rPr>
              <a:t>核心命题：</a:t>
            </a:r>
            <a:r>
              <a:rPr lang="en-US" sz="1600" b="0" i="0" u="none" strike="noStrike">
                <a:solidFill>
                  <a:srgbClr val="333333"/>
                </a:solidFill>
                <a:latin typeface="Noto Sans SC"/>
                <a:ea typeface="Noto Sans SC"/>
                <a:cs typeface="Noto Sans SC"/>
                <a:sym typeface="Noto Sans SC"/>
              </a:rPr>
              <a:t>医保局作为“成本最小化者”，其核心目标聚焦于节省基金支出，与最大化社会总福利（兼顾患者效用、产业创新与长期发展）的目标并不完全一致。</a:t>
            </a:r>
            <a:endParaRPr lang="en-US" sz="1100"/>
          </a:p>
        </p:txBody>
      </p:sp>
      <p:sp>
        <p:nvSpPr>
          <p:cNvPr id="7" name="AutoShape 7"/>
          <p:cNvSpPr/>
          <p:nvPr/>
        </p:nvSpPr>
        <p:spPr>
          <a:xfrm>
            <a:off x="762000" y="3048000"/>
            <a:ext cx="5207000" cy="1968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238500"/>
            <a:ext cx="355600" cy="355600"/>
          </a:xfrm>
          <a:prstGeom prst="rect">
            <a:avLst/>
          </a:prstGeom>
        </p:spPr>
      </p:pic>
      <p:sp>
        <p:nvSpPr>
          <p:cNvPr id="9" name="AutoShape 9"/>
          <p:cNvSpPr/>
          <p:nvPr/>
        </p:nvSpPr>
        <p:spPr>
          <a:xfrm>
            <a:off x="1460500" y="3200400"/>
            <a:ext cx="431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医保局的“成本视角”</a:t>
            </a:r>
            <a:endParaRPr lang="en-US" sz="1100"/>
          </a:p>
        </p:txBody>
      </p:sp>
      <p:cxnSp>
        <p:nvCxnSpPr>
          <p:cNvPr id="10" name="Connector 10"/>
          <p:cNvCxnSpPr/>
          <p:nvPr/>
        </p:nvCxnSpPr>
        <p:spPr>
          <a:xfrm rot="-9046">
            <a:off x="952508" y="3803650"/>
            <a:ext cx="4826000" cy="12700"/>
          </a:xfrm>
          <a:prstGeom prst="straightConnector1">
            <a:avLst/>
          </a:prstGeom>
          <a:solidFill>
            <a:srgbClr val="DEE0E3">
              <a:alpha val="100000"/>
            </a:srgbClr>
          </a:solidFill>
          <a:ln w="12700" cap="flat" cmpd="sng">
            <a:solidFill>
              <a:srgbClr val="2E5A87">
                <a:alpha val="20000"/>
              </a:srgbClr>
            </a:solidFill>
            <a:prstDash val="solid"/>
            <a:round/>
            <a:headEnd type="none" w="med" len="med"/>
            <a:tailEnd type="none" w="med" len="med"/>
          </a:ln>
        </p:spPr>
      </p:cxnSp>
      <p:sp>
        <p:nvSpPr>
          <p:cNvPr id="11" name="AutoShape 11"/>
          <p:cNvSpPr/>
          <p:nvPr/>
        </p:nvSpPr>
        <p:spPr>
          <a:xfrm>
            <a:off x="952500" y="39370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05050"/>
                </a:solidFill>
                <a:latin typeface="Noto Sans SC"/>
                <a:ea typeface="Noto Sans SC"/>
                <a:cs typeface="Noto Sans SC"/>
                <a:sym typeface="Noto Sans SC"/>
              </a:rPr>
              <a:t>首要目标是严格控制医保基金支出，在药品谈判中倾向于将价格压至最低，以实现当期预算的平衡，是典型的“价格接受者”和“成本控制者”。</a:t>
            </a:r>
            <a:endParaRPr lang="en-US" sz="1100"/>
          </a:p>
        </p:txBody>
      </p:sp>
      <p:sp>
        <p:nvSpPr>
          <p:cNvPr id="12" name="AutoShape 12"/>
          <p:cNvSpPr/>
          <p:nvPr/>
        </p:nvSpPr>
        <p:spPr>
          <a:xfrm>
            <a:off x="6223000" y="3048000"/>
            <a:ext cx="5207000" cy="1968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13500" y="3238500"/>
            <a:ext cx="355600" cy="355600"/>
          </a:xfrm>
          <a:prstGeom prst="rect">
            <a:avLst/>
          </a:prstGeom>
        </p:spPr>
      </p:pic>
      <p:sp>
        <p:nvSpPr>
          <p:cNvPr id="14" name="AutoShape 14"/>
          <p:cNvSpPr/>
          <p:nvPr/>
        </p:nvSpPr>
        <p:spPr>
          <a:xfrm>
            <a:off x="6921500" y="3200400"/>
            <a:ext cx="431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社会规划者的“全局视角”</a:t>
            </a:r>
            <a:endParaRPr lang="en-US" sz="1100"/>
          </a:p>
        </p:txBody>
      </p:sp>
      <p:cxnSp>
        <p:nvCxnSpPr>
          <p:cNvPr id="15" name="Connector 15"/>
          <p:cNvCxnSpPr/>
          <p:nvPr/>
        </p:nvCxnSpPr>
        <p:spPr>
          <a:xfrm rot="-9046">
            <a:off x="6413508" y="3803650"/>
            <a:ext cx="4826000" cy="12700"/>
          </a:xfrm>
          <a:prstGeom prst="straightConnector1">
            <a:avLst/>
          </a:prstGeom>
          <a:solidFill>
            <a:srgbClr val="DEE0E3">
              <a:alpha val="100000"/>
            </a:srgbClr>
          </a:solidFill>
          <a:ln w="12700" cap="flat" cmpd="sng">
            <a:solidFill>
              <a:srgbClr val="2E5A87">
                <a:alpha val="20000"/>
              </a:srgbClr>
            </a:solidFill>
            <a:prstDash val="solid"/>
            <a:round/>
            <a:headEnd type="none" w="med" len="med"/>
            <a:tailEnd type="none" w="med" len="med"/>
          </a:ln>
        </p:spPr>
      </p:cxnSp>
      <p:sp>
        <p:nvSpPr>
          <p:cNvPr id="16" name="AutoShape 16"/>
          <p:cNvSpPr/>
          <p:nvPr/>
        </p:nvSpPr>
        <p:spPr>
          <a:xfrm>
            <a:off x="6413500" y="39370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05050"/>
                </a:solidFill>
                <a:latin typeface="Noto Sans SC"/>
                <a:ea typeface="Noto Sans SC"/>
                <a:cs typeface="Noto Sans SC"/>
                <a:sym typeface="Noto Sans SC"/>
              </a:rPr>
              <a:t>需统筹患者健康收益、药企研发成本与创新激励。为了换取长期的新药研发动力和更好的药品可及性，有时需要容忍药品保留合理的利润空间。</a:t>
            </a:r>
            <a:endParaRPr lang="en-US" sz="1100"/>
          </a:p>
        </p:txBody>
      </p:sp>
      <p:sp>
        <p:nvSpPr>
          <p:cNvPr id="17" name="AutoShape 17"/>
          <p:cNvSpPr/>
          <p:nvPr/>
        </p:nvSpPr>
        <p:spPr>
          <a:xfrm>
            <a:off x="762000" y="5334000"/>
            <a:ext cx="10668000" cy="1143000"/>
          </a:xfrm>
          <a:prstGeom prst="roundRect">
            <a:avLst>
              <a:gd name="adj" fmla="val 0"/>
            </a:avLst>
          </a:prstGeom>
          <a:solidFill>
            <a:srgbClr val="2E5A87">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524500"/>
            <a:ext cx="406400" cy="406400"/>
          </a:xfrm>
          <a:prstGeom prst="rect">
            <a:avLst/>
          </a:prstGeom>
        </p:spPr>
      </p:pic>
      <p:sp>
        <p:nvSpPr>
          <p:cNvPr id="19" name="AutoShape 19"/>
          <p:cNvSpPr/>
          <p:nvPr/>
        </p:nvSpPr>
        <p:spPr>
          <a:xfrm>
            <a:off x="1524000" y="5486400"/>
            <a:ext cx="9652000" cy="8382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2E5A87"/>
                </a:solidFill>
                <a:latin typeface="Noto Sans SC"/>
                <a:ea typeface="Noto Sans SC"/>
                <a:cs typeface="Noto Sans SC"/>
                <a:sym typeface="Noto Sans SC"/>
              </a:rPr>
              <a:t>关键发现：“福利楔差”的存在</a:t>
            </a:r>
            <a:br>
              <a:rPr lang="en-US" sz="1600" b="0" i="0" u="none" strike="noStrike">
                <a:solidFill>
                  <a:srgbClr val="1F2329"/>
                </a:solidFill>
                <a:latin typeface="Noto Sans SC"/>
                <a:ea typeface="Noto Sans SC"/>
                <a:cs typeface="Noto Sans SC"/>
                <a:sym typeface="Noto Sans SC"/>
              </a:rPr>
            </a:br>
            <a:r>
              <a:rPr lang="en-US" sz="1400" b="0" i="0" u="none" strike="noStrike">
                <a:solidFill>
                  <a:srgbClr val="3C3C3C"/>
                </a:solidFill>
                <a:latin typeface="Noto Sans SC"/>
                <a:ea typeface="Noto Sans SC"/>
                <a:cs typeface="Noto Sans SC"/>
                <a:sym typeface="Noto Sans SC"/>
              </a:rPr>
              <a:t>模型推演表明，医保局选定的“最优价格”往往低于社会福利最大化的均衡价格。这种偏差可能导致部分高价值、高研发投入的原研药因价格过低退出市场，造成社会福利的净损失。</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03 核心结论解读</a:t>
            </a:r>
            <a:endParaRPr lang="en-US" sz="1100"/>
          </a:p>
        </p:txBody>
      </p:sp>
      <p:sp>
        <p:nvSpPr>
          <p:cNvPr id="4" name="AutoShape 4"/>
          <p:cNvSpPr/>
          <p:nvPr/>
        </p:nvSpPr>
        <p:spPr>
          <a:xfrm>
            <a:off x="762000" y="1524000"/>
            <a:ext cx="10668000" cy="1079500"/>
          </a:xfrm>
          <a:prstGeom prst="roundRect">
            <a:avLst>
              <a:gd name="adj" fmla="val 0"/>
            </a:avLst>
          </a:prstGeom>
          <a:solidFill>
            <a:srgbClr val="2E5A87">
              <a:alpha val="8000"/>
            </a:srgbClr>
          </a:solidFill>
          <a:ln w="12700" cap="flat" cmpd="sng">
            <a:solidFill>
              <a:srgbClr val="2E5A87">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76200" cy="10795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587500"/>
            <a:ext cx="1016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2E5A87"/>
                </a:solidFill>
                <a:latin typeface="Noto Sans SC"/>
                <a:ea typeface="Noto Sans SC"/>
                <a:cs typeface="Noto Sans SC"/>
                <a:sym typeface="Noto Sans SC"/>
              </a:rPr>
              <a:t>结论四：改革的顺序很重要！</a:t>
            </a:r>
            <a:endParaRPr lang="en-US" sz="1100"/>
          </a:p>
          <a:p>
            <a:pPr marL="0" indent="0" algn="l">
              <a:lnSpc>
                <a:spcPct val="108333"/>
              </a:lnSpc>
            </a:pPr>
            <a:r>
              <a:rPr lang="en-US" sz="1400" b="0" i="0" u="none" strike="noStrike">
                <a:solidFill>
                  <a:srgbClr val="333333"/>
                </a:solidFill>
                <a:latin typeface="Noto Sans SC"/>
                <a:ea typeface="Noto Sans SC"/>
                <a:cs typeface="Noto Sans SC"/>
                <a:sym typeface="Noto Sans SC"/>
              </a:rPr>
              <a:t>命题：先扩大医保覆盖（提高λ），降低患者自付比例，再推行集采压价，能实现“价格更低、退市更少”的最优均衡。</a:t>
            </a:r>
          </a:p>
        </p:txBody>
      </p:sp>
      <p:sp>
        <p:nvSpPr>
          <p:cNvPr id="7" name="AutoShape 7"/>
          <p:cNvSpPr/>
          <p:nvPr/>
        </p:nvSpPr>
        <p:spPr>
          <a:xfrm>
            <a:off x="762000" y="3048000"/>
            <a:ext cx="5270500" cy="1714500"/>
          </a:xfrm>
          <a:prstGeom prst="roundRect">
            <a:avLst>
              <a:gd name="adj" fmla="val 0"/>
            </a:avLst>
          </a:prstGeom>
          <a:solidFill>
            <a:srgbClr val="FFFFFF">
              <a:alpha val="70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200400"/>
            <a:ext cx="355600" cy="355600"/>
          </a:xfrm>
          <a:prstGeom prst="rect">
            <a:avLst/>
          </a:prstGeom>
        </p:spPr>
      </p:pic>
      <p:sp>
        <p:nvSpPr>
          <p:cNvPr id="9" name="AutoShape 9"/>
          <p:cNvSpPr/>
          <p:nvPr/>
        </p:nvSpPr>
        <p:spPr>
          <a:xfrm>
            <a:off x="1397000" y="3175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5A87"/>
                </a:solidFill>
                <a:latin typeface="Noto Sans SC"/>
                <a:ea typeface="Noto Sans SC"/>
                <a:cs typeface="Noto Sans SC"/>
                <a:sym typeface="Noto Sans SC"/>
              </a:rPr>
              <a:t>01. 提高医保报销比例（前置条件）</a:t>
            </a:r>
            <a:endParaRPr lang="en-US" sz="1100"/>
          </a:p>
        </p:txBody>
      </p:sp>
      <p:cxnSp>
        <p:nvCxnSpPr>
          <p:cNvPr id="10" name="Connector 10"/>
          <p:cNvCxnSpPr/>
          <p:nvPr/>
        </p:nvCxnSpPr>
        <p:spPr>
          <a:xfrm rot="-8929">
            <a:off x="952508" y="3740150"/>
            <a:ext cx="48895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11" name="AutoShape 11"/>
          <p:cNvSpPr/>
          <p:nvPr/>
        </p:nvSpPr>
        <p:spPr>
          <a:xfrm>
            <a:off x="952500" y="38735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25252"/>
                </a:solidFill>
                <a:latin typeface="Noto Sans SC"/>
                <a:ea typeface="Noto Sans SC"/>
                <a:cs typeface="Noto Sans SC"/>
                <a:sym typeface="Noto Sans SC"/>
              </a:rPr>
              <a:t>提高报销比例能显著降低原研药的“退出阈值”（参考结论一），让药企在面对更低价格时，依然能通过销量增长覆盖成本，从而“承受”降价。</a:t>
            </a:r>
            <a:endParaRPr lang="en-US" sz="1100"/>
          </a:p>
        </p:txBody>
      </p:sp>
      <p:sp>
        <p:nvSpPr>
          <p:cNvPr id="12" name="AutoShape 12"/>
          <p:cNvSpPr/>
          <p:nvPr/>
        </p:nvSpPr>
        <p:spPr>
          <a:xfrm>
            <a:off x="6286500" y="3048000"/>
            <a:ext cx="5270500" cy="1714500"/>
          </a:xfrm>
          <a:prstGeom prst="roundRect">
            <a:avLst>
              <a:gd name="adj" fmla="val 0"/>
            </a:avLst>
          </a:prstGeom>
          <a:solidFill>
            <a:srgbClr val="FFFFFF">
              <a:alpha val="70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200400"/>
            <a:ext cx="355600" cy="355600"/>
          </a:xfrm>
          <a:prstGeom prst="rect">
            <a:avLst/>
          </a:prstGeom>
        </p:spPr>
      </p:pic>
      <p:sp>
        <p:nvSpPr>
          <p:cNvPr id="14" name="AutoShape 14"/>
          <p:cNvSpPr/>
          <p:nvPr/>
        </p:nvSpPr>
        <p:spPr>
          <a:xfrm>
            <a:off x="6921500" y="3175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E5A87"/>
                </a:solidFill>
                <a:latin typeface="Noto Sans SC"/>
                <a:ea typeface="Noto Sans SC"/>
                <a:cs typeface="Noto Sans SC"/>
                <a:sym typeface="Noto Sans SC"/>
              </a:rPr>
              <a:t>02. 有序推进集采压价（后续动作）</a:t>
            </a:r>
            <a:endParaRPr lang="en-US" sz="1100"/>
          </a:p>
        </p:txBody>
      </p:sp>
      <p:cxnSp>
        <p:nvCxnSpPr>
          <p:cNvPr id="15" name="Connector 15"/>
          <p:cNvCxnSpPr/>
          <p:nvPr/>
        </p:nvCxnSpPr>
        <p:spPr>
          <a:xfrm rot="-8929">
            <a:off x="6477008" y="3740150"/>
            <a:ext cx="48895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16" name="AutoShape 16"/>
          <p:cNvSpPr/>
          <p:nvPr/>
        </p:nvSpPr>
        <p:spPr>
          <a:xfrm>
            <a:off x="6477000" y="38735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25252"/>
                </a:solidFill>
                <a:latin typeface="Noto Sans SC"/>
                <a:ea typeface="Noto Sans SC"/>
                <a:cs typeface="Noto Sans SC"/>
                <a:sym typeface="Noto Sans SC"/>
              </a:rPr>
              <a:t>在医保托底的基础上，集采的价格可以定得更具竞争力，同时大幅降低触发原研药退市的风险，确保患者能持续获得有效药物治疗。</a:t>
            </a:r>
            <a:endParaRPr lang="en-US" sz="1100"/>
          </a:p>
        </p:txBody>
      </p:sp>
      <p:sp>
        <p:nvSpPr>
          <p:cNvPr id="17" name="AutoShape 17"/>
          <p:cNvSpPr/>
          <p:nvPr/>
        </p:nvSpPr>
        <p:spPr>
          <a:xfrm>
            <a:off x="762000" y="5080000"/>
            <a:ext cx="5270500" cy="1270000"/>
          </a:xfrm>
          <a:prstGeom prst="roundRect">
            <a:avLst>
              <a:gd name="adj" fmla="val 0"/>
            </a:avLst>
          </a:prstGeom>
          <a:solidFill>
            <a:srgbClr val="FFF7ED">
              <a:alpha val="85000"/>
            </a:srgbClr>
          </a:solidFill>
          <a:ln w="12700" cap="flat" cmpd="sng">
            <a:solidFill>
              <a:srgbClr val="F97316">
                <a:alpha val="4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232400"/>
            <a:ext cx="304800" cy="304800"/>
          </a:xfrm>
          <a:prstGeom prst="rect">
            <a:avLst/>
          </a:prstGeom>
        </p:spPr>
      </p:pic>
      <p:sp>
        <p:nvSpPr>
          <p:cNvPr id="19" name="AutoShape 19"/>
          <p:cNvSpPr/>
          <p:nvPr/>
        </p:nvSpPr>
        <p:spPr>
          <a:xfrm>
            <a:off x="1397000" y="5207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C2410C"/>
                </a:solidFill>
                <a:latin typeface="Noto Sans SC"/>
                <a:ea typeface="Noto Sans SC"/>
                <a:cs typeface="Noto Sans SC"/>
                <a:sym typeface="Noto Sans SC"/>
              </a:rPr>
              <a:t>警惕：医保缺位时强行压价</a:t>
            </a:r>
            <a:endParaRPr lang="en-US" sz="1100"/>
          </a:p>
          <a:p>
            <a:pPr marL="0" indent="0" algn="l">
              <a:lnSpc>
                <a:spcPct val="108333"/>
              </a:lnSpc>
            </a:pPr>
            <a:r>
              <a:rPr lang="en-US" sz="1300" b="0" i="0" u="none" strike="noStrike">
                <a:solidFill>
                  <a:srgbClr val="434343"/>
                </a:solidFill>
                <a:latin typeface="Noto Sans SC"/>
                <a:ea typeface="Noto Sans SC"/>
                <a:cs typeface="Noto Sans SC"/>
                <a:sym typeface="Noto Sans SC"/>
              </a:rPr>
              <a:t>若在覆盖不足时大幅降价，药企退出阈值高，极易触发退市，造成社会福利净损失（Ω &gt; 0），违背改革初衷。</a:t>
            </a:r>
          </a:p>
        </p:txBody>
      </p:sp>
      <p:sp>
        <p:nvSpPr>
          <p:cNvPr id="20" name="AutoShape 20"/>
          <p:cNvSpPr/>
          <p:nvPr/>
        </p:nvSpPr>
        <p:spPr>
          <a:xfrm>
            <a:off x="6286500" y="5080000"/>
            <a:ext cx="5270500" cy="1270000"/>
          </a:xfrm>
          <a:prstGeom prst="roundRect">
            <a:avLst>
              <a:gd name="adj" fmla="val 0"/>
            </a:avLst>
          </a:prstGeom>
          <a:solidFill>
            <a:srgbClr val="EFF6FF">
              <a:alpha val="85000"/>
            </a:srgbClr>
          </a:solidFill>
          <a:ln w="12700" cap="flat" cmpd="sng">
            <a:solidFill>
              <a:srgbClr val="2E5A87">
                <a:alpha val="4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5232400"/>
            <a:ext cx="304800" cy="304800"/>
          </a:xfrm>
          <a:prstGeom prst="rect">
            <a:avLst/>
          </a:prstGeom>
        </p:spPr>
      </p:pic>
      <p:sp>
        <p:nvSpPr>
          <p:cNvPr id="22" name="AutoShape 22"/>
          <p:cNvSpPr/>
          <p:nvPr/>
        </p:nvSpPr>
        <p:spPr>
          <a:xfrm>
            <a:off x="6921500" y="5207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2E5A87"/>
                </a:solidFill>
                <a:latin typeface="Noto Sans SC"/>
                <a:ea typeface="Noto Sans SC"/>
                <a:cs typeface="Noto Sans SC"/>
                <a:sym typeface="Noto Sans SC"/>
              </a:rPr>
              <a:t>政策启示：系统协同，筑牢根基</a:t>
            </a:r>
            <a:endParaRPr lang="en-US" sz="1100"/>
          </a:p>
          <a:p>
            <a:pPr marL="0" indent="0" algn="l">
              <a:lnSpc>
                <a:spcPct val="108333"/>
              </a:lnSpc>
            </a:pPr>
            <a:r>
              <a:rPr lang="en-US" sz="1300" b="0" i="0" u="none" strike="noStrike">
                <a:solidFill>
                  <a:srgbClr val="434343"/>
                </a:solidFill>
                <a:latin typeface="Noto Sans SC"/>
                <a:ea typeface="Noto Sans SC"/>
                <a:cs typeface="Noto Sans SC"/>
                <a:sym typeface="Noto Sans SC"/>
              </a:rPr>
              <a:t>医保体系的完善与报销比例的提升，是成功推行药品集采改革、实现“价降质存”目标的重要前提和制度保障。</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04 模型的亮点与局限</a:t>
            </a:r>
            <a:endParaRPr lang="en-US" sz="1100"/>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12700" cap="flat" cmpd="sng">
            <a:solidFill>
              <a:srgbClr val="2E5A87">
                <a:alpha val="30000"/>
              </a:srgbClr>
            </a:solidFill>
            <a:prstDash val="solid"/>
            <a:round/>
            <a:headEnd type="none" w="med" len="med"/>
            <a:tailEnd type="none" w="med" len="med"/>
          </a:ln>
        </p:spPr>
      </p:cxnSp>
      <p:sp>
        <p:nvSpPr>
          <p:cNvPr id="5" name="AutoShape 5"/>
          <p:cNvSpPr/>
          <p:nvPr/>
        </p:nvSpPr>
        <p:spPr>
          <a:xfrm>
            <a:off x="762000" y="1778000"/>
            <a:ext cx="5270500" cy="508000"/>
          </a:xfrm>
          <a:prstGeom prst="roundRect">
            <a:avLst>
              <a:gd name="adj" fmla="val 0"/>
            </a:avLst>
          </a:prstGeom>
          <a:solidFill>
            <a:srgbClr val="2E5A87">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778000"/>
            <a:ext cx="76200" cy="5080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1778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E5A87"/>
                </a:solidFill>
                <a:latin typeface="Noto Sans SC"/>
                <a:ea typeface="Noto Sans SC"/>
                <a:cs typeface="Noto Sans SC"/>
                <a:sym typeface="Noto Sans SC"/>
              </a:rPr>
              <a:t>模型的亮点 (Strengths)</a:t>
            </a:r>
            <a:endParaRPr lang="en-US" sz="1100"/>
          </a:p>
        </p:txBody>
      </p:sp>
      <p:sp>
        <p:nvSpPr>
          <p:cNvPr id="8" name="AutoShape 8"/>
          <p:cNvSpPr/>
          <p:nvPr/>
        </p:nvSpPr>
        <p:spPr>
          <a:xfrm>
            <a:off x="762000" y="2794000"/>
            <a:ext cx="5270500" cy="1079500"/>
          </a:xfrm>
          <a:prstGeom prst="roundRect">
            <a:avLst>
              <a:gd name="adj" fmla="val 0"/>
            </a:avLst>
          </a:prstGeom>
          <a:solidFill>
            <a:srgbClr val="FFFFFF">
              <a:alpha val="60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984500"/>
            <a:ext cx="304800" cy="304800"/>
          </a:xfrm>
          <a:prstGeom prst="rect">
            <a:avLst/>
          </a:prstGeom>
        </p:spPr>
      </p:pic>
      <p:sp>
        <p:nvSpPr>
          <p:cNvPr id="10" name="AutoShape 10"/>
          <p:cNvSpPr/>
          <p:nvPr/>
        </p:nvSpPr>
        <p:spPr>
          <a:xfrm>
            <a:off x="1397000" y="28575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首次量化分析复杂权衡</a:t>
            </a:r>
            <a:endParaRPr lang="en-US" sz="1100"/>
          </a:p>
          <a:p>
            <a:pPr marL="0" indent="0" algn="l">
              <a:lnSpc>
                <a:spcPct val="108333"/>
              </a:lnSpc>
            </a:pPr>
            <a:r>
              <a:rPr lang="en-US" sz="1300" b="0" i="0" u="none" strike="noStrike">
                <a:solidFill>
                  <a:srgbClr val="555555"/>
                </a:solidFill>
                <a:latin typeface="Noto Sans SC"/>
                <a:ea typeface="Noto Sans SC"/>
                <a:cs typeface="Noto Sans SC"/>
                <a:sym typeface="Noto Sans SC"/>
              </a:rPr>
              <a:t>开创性地将集采中的“退市风险”与“社会福利”纳入统一数学框架进行量化，为政策制定提供了可参考的理论依据。</a:t>
            </a:r>
          </a:p>
        </p:txBody>
      </p:sp>
      <p:sp>
        <p:nvSpPr>
          <p:cNvPr id="11" name="AutoShape 11"/>
          <p:cNvSpPr/>
          <p:nvPr/>
        </p:nvSpPr>
        <p:spPr>
          <a:xfrm>
            <a:off x="762000" y="4064000"/>
            <a:ext cx="5270500" cy="1079500"/>
          </a:xfrm>
          <a:prstGeom prst="roundRect">
            <a:avLst>
              <a:gd name="adj" fmla="val 0"/>
            </a:avLst>
          </a:prstGeom>
          <a:solidFill>
            <a:srgbClr val="FFFFFF">
              <a:alpha val="60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254500"/>
            <a:ext cx="304800" cy="304800"/>
          </a:xfrm>
          <a:prstGeom prst="rect">
            <a:avLst/>
          </a:prstGeom>
        </p:spPr>
      </p:pic>
      <p:sp>
        <p:nvSpPr>
          <p:cNvPr id="13" name="AutoShape 13"/>
          <p:cNvSpPr/>
          <p:nvPr/>
        </p:nvSpPr>
        <p:spPr>
          <a:xfrm>
            <a:off x="1397000" y="41275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揭示医保报销的核心杠杆作用</a:t>
            </a:r>
            <a:endParaRPr lang="en-US" sz="1100"/>
          </a:p>
          <a:p>
            <a:pPr marL="0" indent="0" algn="l">
              <a:lnSpc>
                <a:spcPct val="108333"/>
              </a:lnSpc>
            </a:pPr>
            <a:r>
              <a:rPr lang="en-US" sz="1300" b="0" i="0" u="none" strike="noStrike">
                <a:solidFill>
                  <a:srgbClr val="555555"/>
                </a:solidFill>
                <a:latin typeface="Noto Sans SC"/>
                <a:ea typeface="Noto Sans SC"/>
                <a:cs typeface="Noto Sans SC"/>
                <a:sym typeface="Noto Sans SC"/>
              </a:rPr>
              <a:t>清晰论证了“医保报销比例”是调节药企定价与市场供给行为的关键变量，阐明了其在平衡可及性与企业利润中的枢纽地位。</a:t>
            </a:r>
          </a:p>
        </p:txBody>
      </p:sp>
      <p:sp>
        <p:nvSpPr>
          <p:cNvPr id="14" name="AutoShape 14"/>
          <p:cNvSpPr/>
          <p:nvPr/>
        </p:nvSpPr>
        <p:spPr>
          <a:xfrm>
            <a:off x="762000" y="5270500"/>
            <a:ext cx="5270500" cy="1143000"/>
          </a:xfrm>
          <a:prstGeom prst="roundRect">
            <a:avLst>
              <a:gd name="adj" fmla="val 0"/>
            </a:avLst>
          </a:prstGeom>
          <a:solidFill>
            <a:srgbClr val="FFFFFF">
              <a:alpha val="60000"/>
            </a:srgbClr>
          </a:solidFill>
          <a:ln w="12700" cap="flat" cmpd="sng">
            <a:solidFill>
              <a:srgbClr val="2E5A87">
                <a:alpha val="2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461000"/>
            <a:ext cx="304800" cy="304800"/>
          </a:xfrm>
          <a:prstGeom prst="rect">
            <a:avLst/>
          </a:prstGeom>
        </p:spPr>
      </p:pic>
      <p:sp>
        <p:nvSpPr>
          <p:cNvPr id="16" name="AutoShape 16"/>
          <p:cNvSpPr/>
          <p:nvPr/>
        </p:nvSpPr>
        <p:spPr>
          <a:xfrm>
            <a:off x="1397000" y="5334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触及动态的创新与退出机制</a:t>
            </a:r>
            <a:endParaRPr lang="en-US" sz="1100"/>
          </a:p>
          <a:p>
            <a:pPr marL="0" indent="0" algn="l">
              <a:lnSpc>
                <a:spcPct val="108333"/>
              </a:lnSpc>
            </a:pPr>
            <a:r>
              <a:rPr lang="en-US" sz="1300" b="0" i="0" u="none" strike="noStrike">
                <a:solidFill>
                  <a:srgbClr val="555555"/>
                </a:solidFill>
                <a:latin typeface="Noto Sans SC"/>
                <a:ea typeface="Noto Sans SC"/>
                <a:cs typeface="Noto Sans SC"/>
                <a:sym typeface="Noto Sans SC"/>
              </a:rPr>
              <a:t>虽为静态模型，但引入“退出阈值”与“福利跳跃”概念，巧妙连接了短期价格管制与长期市场结构演变的逻辑关联。</a:t>
            </a:r>
          </a:p>
        </p:txBody>
      </p:sp>
      <p:cxnSp>
        <p:nvCxnSpPr>
          <p:cNvPr id="17" name="Connector 17"/>
          <p:cNvCxnSpPr/>
          <p:nvPr/>
        </p:nvCxnSpPr>
        <p:spPr>
          <a:xfrm rot="5390450">
            <a:off x="3937000" y="4057659"/>
            <a:ext cx="45720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18" name="AutoShape 18"/>
          <p:cNvSpPr/>
          <p:nvPr/>
        </p:nvSpPr>
        <p:spPr>
          <a:xfrm>
            <a:off x="6477000" y="1778000"/>
            <a:ext cx="5270500" cy="508000"/>
          </a:xfrm>
          <a:prstGeom prst="roundRect">
            <a:avLst>
              <a:gd name="adj" fmla="val 0"/>
            </a:avLst>
          </a:prstGeom>
          <a:solidFill>
            <a:srgbClr val="F59E0B">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477000" y="1778000"/>
            <a:ext cx="76200" cy="5080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667500" y="1778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B45309"/>
                </a:solidFill>
                <a:latin typeface="Noto Sans SC"/>
                <a:ea typeface="Noto Sans SC"/>
                <a:cs typeface="Noto Sans SC"/>
                <a:sym typeface="Noto Sans SC"/>
              </a:rPr>
              <a:t>模型的局限 (Limitations)</a:t>
            </a:r>
            <a:endParaRPr lang="en-US" sz="1100"/>
          </a:p>
        </p:txBody>
      </p:sp>
      <p:sp>
        <p:nvSpPr>
          <p:cNvPr id="21" name="AutoShape 21"/>
          <p:cNvSpPr/>
          <p:nvPr/>
        </p:nvSpPr>
        <p:spPr>
          <a:xfrm>
            <a:off x="6477000" y="2794000"/>
            <a:ext cx="2565400" cy="1778000"/>
          </a:xfrm>
          <a:prstGeom prst="roundRect">
            <a:avLst>
              <a:gd name="adj" fmla="val 0"/>
            </a:avLst>
          </a:prstGeom>
          <a:solidFill>
            <a:srgbClr val="FFFFFF">
              <a:alpha val="60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2921000"/>
            <a:ext cx="254000" cy="254000"/>
          </a:xfrm>
          <a:prstGeom prst="rect">
            <a:avLst/>
          </a:prstGeom>
        </p:spPr>
      </p:pic>
      <p:sp>
        <p:nvSpPr>
          <p:cNvPr id="23" name="AutoShape 23"/>
          <p:cNvSpPr/>
          <p:nvPr/>
        </p:nvSpPr>
        <p:spPr>
          <a:xfrm>
            <a:off x="6921500" y="2857500"/>
            <a:ext cx="2032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33333"/>
                </a:solidFill>
                <a:latin typeface="Noto Sans SC"/>
                <a:ea typeface="Noto Sans SC"/>
                <a:cs typeface="Noto Sans SC"/>
                <a:sym typeface="Noto Sans SC"/>
              </a:rPr>
              <a:t>简化的市场结构假设</a:t>
            </a:r>
            <a:endParaRPr lang="en-US" sz="1100"/>
          </a:p>
          <a:p>
            <a:pPr marL="0" indent="0" algn="l">
              <a:lnSpc>
                <a:spcPct val="108333"/>
              </a:lnSpc>
            </a:pPr>
            <a:r>
              <a:rPr lang="en-US" sz="1200" b="0" i="0" u="none" strike="noStrike">
                <a:solidFill>
                  <a:srgbClr val="555555"/>
                </a:solidFill>
                <a:latin typeface="Noto Sans SC"/>
                <a:ea typeface="Noto Sans SC"/>
                <a:cs typeface="Noto Sans SC"/>
                <a:sym typeface="Noto Sans SC"/>
              </a:rPr>
              <a:t>模型假设仿制药市场为完全竞争，忽略了现实中常见的寡头垄断或差异化竞争格局，与真实市场环境存在偏差。</a:t>
            </a:r>
          </a:p>
        </p:txBody>
      </p:sp>
      <p:sp>
        <p:nvSpPr>
          <p:cNvPr id="24" name="AutoShape 24"/>
          <p:cNvSpPr/>
          <p:nvPr/>
        </p:nvSpPr>
        <p:spPr>
          <a:xfrm>
            <a:off x="9182100" y="2794000"/>
            <a:ext cx="2565400" cy="1778000"/>
          </a:xfrm>
          <a:prstGeom prst="roundRect">
            <a:avLst>
              <a:gd name="adj" fmla="val 0"/>
            </a:avLst>
          </a:prstGeom>
          <a:solidFill>
            <a:srgbClr val="FFFFFF">
              <a:alpha val="60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09100" y="2921000"/>
            <a:ext cx="254000" cy="254000"/>
          </a:xfrm>
          <a:prstGeom prst="rect">
            <a:avLst/>
          </a:prstGeom>
        </p:spPr>
      </p:pic>
      <p:sp>
        <p:nvSpPr>
          <p:cNvPr id="26" name="AutoShape 26"/>
          <p:cNvSpPr/>
          <p:nvPr/>
        </p:nvSpPr>
        <p:spPr>
          <a:xfrm>
            <a:off x="9626600" y="2857500"/>
            <a:ext cx="2032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33333"/>
                </a:solidFill>
                <a:latin typeface="Noto Sans SC"/>
                <a:ea typeface="Noto Sans SC"/>
                <a:cs typeface="Noto Sans SC"/>
                <a:sym typeface="Noto Sans SC"/>
              </a:rPr>
              <a:t>品种价值的外生性</a:t>
            </a:r>
            <a:endParaRPr lang="en-US" sz="1100"/>
          </a:p>
          <a:p>
            <a:pPr marL="0" indent="0" algn="l">
              <a:lnSpc>
                <a:spcPct val="108333"/>
              </a:lnSpc>
            </a:pPr>
            <a:r>
              <a:rPr lang="en-US" sz="1200" b="0" i="0" u="none" strike="noStrike">
                <a:solidFill>
                  <a:srgbClr val="555555"/>
                </a:solidFill>
                <a:latin typeface="Noto Sans SC"/>
                <a:ea typeface="Noto Sans SC"/>
                <a:cs typeface="Noto Sans SC"/>
                <a:sym typeface="Noto Sans SC"/>
              </a:rPr>
              <a:t>原研药的疗效优势(Vₒ)被设定为外生给定参数，无法内生反映研发投入、专利保护及市场竞争对药品价值的动态塑造。</a:t>
            </a:r>
          </a:p>
        </p:txBody>
      </p:sp>
      <p:sp>
        <p:nvSpPr>
          <p:cNvPr id="27" name="AutoShape 27"/>
          <p:cNvSpPr/>
          <p:nvPr/>
        </p:nvSpPr>
        <p:spPr>
          <a:xfrm>
            <a:off x="6477000" y="4826000"/>
            <a:ext cx="2565400" cy="1651000"/>
          </a:xfrm>
          <a:prstGeom prst="roundRect">
            <a:avLst>
              <a:gd name="adj" fmla="val 0"/>
            </a:avLst>
          </a:prstGeom>
          <a:solidFill>
            <a:srgbClr val="FFFFFF">
              <a:alpha val="60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04000" y="4953000"/>
            <a:ext cx="254000" cy="254000"/>
          </a:xfrm>
          <a:prstGeom prst="rect">
            <a:avLst/>
          </a:prstGeom>
        </p:spPr>
      </p:pic>
      <p:sp>
        <p:nvSpPr>
          <p:cNvPr id="29" name="AutoShape 29"/>
          <p:cNvSpPr/>
          <p:nvPr/>
        </p:nvSpPr>
        <p:spPr>
          <a:xfrm>
            <a:off x="6921500" y="4889500"/>
            <a:ext cx="2032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33333"/>
                </a:solidFill>
                <a:latin typeface="Noto Sans SC"/>
                <a:ea typeface="Noto Sans SC"/>
                <a:cs typeface="Noto Sans SC"/>
                <a:sym typeface="Noto Sans SC"/>
              </a:rPr>
              <a:t>缺乏长期动态视角</a:t>
            </a:r>
            <a:endParaRPr lang="en-US" sz="1100"/>
          </a:p>
          <a:p>
            <a:pPr marL="0" indent="0" algn="l">
              <a:lnSpc>
                <a:spcPct val="108333"/>
              </a:lnSpc>
            </a:pPr>
            <a:r>
              <a:rPr lang="en-US" sz="1200" b="0" i="0" u="none" strike="noStrike">
                <a:solidFill>
                  <a:srgbClr val="555555"/>
                </a:solidFill>
                <a:latin typeface="Noto Sans SC"/>
                <a:ea typeface="Noto Sans SC"/>
                <a:cs typeface="Noto Sans SC"/>
                <a:sym typeface="Noto Sans SC"/>
              </a:rPr>
              <a:t>聚焦于当期福利分析，未充分考量药企跨期的研发决策与投资激励，对长期创新可持续性的探讨不足。</a:t>
            </a:r>
          </a:p>
        </p:txBody>
      </p:sp>
      <p:sp>
        <p:nvSpPr>
          <p:cNvPr id="30" name="AutoShape 30"/>
          <p:cNvSpPr/>
          <p:nvPr/>
        </p:nvSpPr>
        <p:spPr>
          <a:xfrm>
            <a:off x="9182100" y="4826000"/>
            <a:ext cx="2565400" cy="1651000"/>
          </a:xfrm>
          <a:prstGeom prst="roundRect">
            <a:avLst>
              <a:gd name="adj" fmla="val 0"/>
            </a:avLst>
          </a:prstGeom>
          <a:solidFill>
            <a:srgbClr val="FFFFFF">
              <a:alpha val="60000"/>
            </a:srgbClr>
          </a:solidFill>
          <a:ln w="12700" cap="flat" cmpd="sng">
            <a:solidFill>
              <a:srgbClr val="F59E0B">
                <a:alpha val="20000"/>
              </a:srgbClr>
            </a:solid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309100" y="4953000"/>
            <a:ext cx="254000" cy="254000"/>
          </a:xfrm>
          <a:prstGeom prst="rect">
            <a:avLst/>
          </a:prstGeom>
        </p:spPr>
      </p:pic>
      <p:sp>
        <p:nvSpPr>
          <p:cNvPr id="32" name="AutoShape 32"/>
          <p:cNvSpPr/>
          <p:nvPr/>
        </p:nvSpPr>
        <p:spPr>
          <a:xfrm>
            <a:off x="9626600" y="4889500"/>
            <a:ext cx="2032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333333"/>
                </a:solidFill>
                <a:latin typeface="Noto Sans SC"/>
                <a:ea typeface="Noto Sans SC"/>
                <a:cs typeface="Noto Sans SC"/>
                <a:sym typeface="Noto Sans SC"/>
              </a:rPr>
              <a:t>忽略关键现实变量</a:t>
            </a:r>
            <a:endParaRPr lang="en-US" sz="1100"/>
          </a:p>
          <a:p>
            <a:pPr marL="0" indent="0" algn="l">
              <a:lnSpc>
                <a:spcPct val="108333"/>
              </a:lnSpc>
            </a:pPr>
            <a:r>
              <a:rPr lang="en-US" sz="1200" b="0" i="0" u="none" strike="noStrike">
                <a:solidFill>
                  <a:srgbClr val="555555"/>
                </a:solidFill>
                <a:latin typeface="Noto Sans SC"/>
                <a:ea typeface="Noto Sans SC"/>
                <a:cs typeface="Noto Sans SC"/>
                <a:sym typeface="Noto Sans SC"/>
              </a:rPr>
              <a:t>模型抽象掉了医生处方习惯、药品质量异质性以及监管套利等复杂现实因素，可能影响结论的普适性。</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05 结论与政策启示</a:t>
            </a:r>
            <a:endParaRPr lang="en-US" sz="1100"/>
          </a:p>
        </p:txBody>
      </p:sp>
      <p:sp>
        <p:nvSpPr>
          <p:cNvPr id="4" name="AutoShape 4"/>
          <p:cNvSpPr/>
          <p:nvPr/>
        </p:nvSpPr>
        <p:spPr>
          <a:xfrm>
            <a:off x="762000" y="1397000"/>
            <a:ext cx="10668000" cy="25400"/>
          </a:xfrm>
          <a:prstGeom prst="roundRect">
            <a:avLst>
              <a:gd name="adj" fmla="val 0"/>
            </a:avLst>
          </a:prstGeom>
          <a:solidFill>
            <a:srgbClr val="2E5A87">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5270500" cy="1968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905000"/>
            <a:ext cx="76200" cy="19685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095500"/>
            <a:ext cx="406400" cy="406400"/>
          </a:xfrm>
          <a:prstGeom prst="rect">
            <a:avLst/>
          </a:prstGeom>
        </p:spPr>
      </p:pic>
      <p:sp>
        <p:nvSpPr>
          <p:cNvPr id="8" name="AutoShape 8"/>
          <p:cNvSpPr/>
          <p:nvPr/>
        </p:nvSpPr>
        <p:spPr>
          <a:xfrm>
            <a:off x="1587500" y="2057400"/>
            <a:ext cx="4254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集采是把双刃剑</a:t>
            </a:r>
            <a:endParaRPr lang="en-US" sz="1100"/>
          </a:p>
        </p:txBody>
      </p:sp>
      <p:cxnSp>
        <p:nvCxnSpPr>
          <p:cNvPr id="9" name="Connector 9"/>
          <p:cNvCxnSpPr/>
          <p:nvPr/>
        </p:nvCxnSpPr>
        <p:spPr>
          <a:xfrm rot="-9167">
            <a:off x="1016008" y="2660650"/>
            <a:ext cx="47625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10" name="AutoShape 10"/>
          <p:cNvSpPr/>
          <p:nvPr/>
        </p:nvSpPr>
        <p:spPr>
          <a:xfrm>
            <a:off x="1016000" y="28575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44444"/>
                </a:solidFill>
                <a:latin typeface="Noto Sans SC"/>
                <a:ea typeface="Noto Sans SC"/>
                <a:cs typeface="Noto Sans SC"/>
                <a:sym typeface="Noto Sans SC"/>
              </a:rPr>
              <a:t>药品集采在显著降低药价、减轻患者负担的同时，也可能因价格过低导致部分具有临床价值的药品退出市场，需警惕“低价驱逐良药”的风险。</a:t>
            </a:r>
            <a:endParaRPr lang="en-US" sz="1100"/>
          </a:p>
        </p:txBody>
      </p:sp>
      <p:sp>
        <p:nvSpPr>
          <p:cNvPr id="11" name="AutoShape 11"/>
          <p:cNvSpPr/>
          <p:nvPr/>
        </p:nvSpPr>
        <p:spPr>
          <a:xfrm>
            <a:off x="6286500" y="1905000"/>
            <a:ext cx="5270500" cy="1968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286500" y="1905000"/>
            <a:ext cx="76200" cy="19685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2095500"/>
            <a:ext cx="406400" cy="406400"/>
          </a:xfrm>
          <a:prstGeom prst="rect">
            <a:avLst/>
          </a:prstGeom>
        </p:spPr>
      </p:pic>
      <p:sp>
        <p:nvSpPr>
          <p:cNvPr id="14" name="AutoShape 14"/>
          <p:cNvSpPr/>
          <p:nvPr/>
        </p:nvSpPr>
        <p:spPr>
          <a:xfrm>
            <a:off x="7112000" y="2057400"/>
            <a:ext cx="4254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医保报销是关键调节杠杆</a:t>
            </a:r>
            <a:endParaRPr lang="en-US" sz="1100"/>
          </a:p>
        </p:txBody>
      </p:sp>
      <p:cxnSp>
        <p:nvCxnSpPr>
          <p:cNvPr id="15" name="Connector 15"/>
          <p:cNvCxnSpPr/>
          <p:nvPr/>
        </p:nvCxnSpPr>
        <p:spPr>
          <a:xfrm rot="-9167">
            <a:off x="6540508" y="2660650"/>
            <a:ext cx="47625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16" name="AutoShape 16"/>
          <p:cNvSpPr/>
          <p:nvPr/>
        </p:nvSpPr>
        <p:spPr>
          <a:xfrm>
            <a:off x="6540500" y="28575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44444"/>
                </a:solidFill>
                <a:latin typeface="Noto Sans SC"/>
                <a:ea typeface="Noto Sans SC"/>
                <a:cs typeface="Noto Sans SC"/>
                <a:sym typeface="Noto Sans SC"/>
              </a:rPr>
              <a:t>提高药品医保报销比例，能有效分摊患者自付成本，同时为药企留存合理利润空间，从而降低优质药品因集采价格因素退市的可能性，保障市场供给。</a:t>
            </a:r>
            <a:endParaRPr lang="en-US" sz="1100"/>
          </a:p>
        </p:txBody>
      </p:sp>
      <p:sp>
        <p:nvSpPr>
          <p:cNvPr id="17" name="AutoShape 17"/>
          <p:cNvSpPr/>
          <p:nvPr/>
        </p:nvSpPr>
        <p:spPr>
          <a:xfrm>
            <a:off x="762000" y="4254500"/>
            <a:ext cx="5270500" cy="1968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4254500"/>
            <a:ext cx="76200" cy="19685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445000"/>
            <a:ext cx="406400" cy="406400"/>
          </a:xfrm>
          <a:prstGeom prst="rect">
            <a:avLst/>
          </a:prstGeom>
        </p:spPr>
      </p:pic>
      <p:sp>
        <p:nvSpPr>
          <p:cNvPr id="20" name="AutoShape 20"/>
          <p:cNvSpPr/>
          <p:nvPr/>
        </p:nvSpPr>
        <p:spPr>
          <a:xfrm>
            <a:off x="1587500" y="4406900"/>
            <a:ext cx="4254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政策决策需坚持精细化评估</a:t>
            </a:r>
            <a:endParaRPr lang="en-US" sz="1100"/>
          </a:p>
        </p:txBody>
      </p:sp>
      <p:cxnSp>
        <p:nvCxnSpPr>
          <p:cNvPr id="21" name="Connector 21"/>
          <p:cNvCxnSpPr/>
          <p:nvPr/>
        </p:nvCxnSpPr>
        <p:spPr>
          <a:xfrm rot="-9167">
            <a:off x="1016008" y="5010150"/>
            <a:ext cx="47625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22" name="AutoShape 22"/>
          <p:cNvSpPr/>
          <p:nvPr/>
        </p:nvSpPr>
        <p:spPr>
          <a:xfrm>
            <a:off x="1016000" y="52070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44444"/>
                </a:solidFill>
                <a:latin typeface="Noto Sans SC"/>
                <a:ea typeface="Noto Sans SC"/>
                <a:cs typeface="Noto Sans SC"/>
                <a:sym typeface="Noto Sans SC"/>
              </a:rPr>
              <a:t>摒弃“一刀切”的定价模式，应基于药品的临床疗效、创新贡献及不可替代性进行分类评估，制定差异化的价格策略，保护药企的研发积极性与市场活力。</a:t>
            </a:r>
            <a:endParaRPr lang="en-US" sz="1100"/>
          </a:p>
        </p:txBody>
      </p:sp>
      <p:sp>
        <p:nvSpPr>
          <p:cNvPr id="23" name="AutoShape 23"/>
          <p:cNvSpPr/>
          <p:nvPr/>
        </p:nvSpPr>
        <p:spPr>
          <a:xfrm>
            <a:off x="6286500" y="4254500"/>
            <a:ext cx="5270500" cy="1968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286500" y="4254500"/>
            <a:ext cx="76200" cy="19685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40500" y="4445000"/>
            <a:ext cx="406400" cy="406400"/>
          </a:xfrm>
          <a:prstGeom prst="rect">
            <a:avLst/>
          </a:prstGeom>
        </p:spPr>
      </p:pic>
      <p:sp>
        <p:nvSpPr>
          <p:cNvPr id="26" name="AutoShape 26"/>
          <p:cNvSpPr/>
          <p:nvPr/>
        </p:nvSpPr>
        <p:spPr>
          <a:xfrm>
            <a:off x="7112000" y="4406900"/>
            <a:ext cx="4254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医保体系与集采改革需深度协同</a:t>
            </a:r>
            <a:endParaRPr lang="en-US" sz="1100"/>
          </a:p>
        </p:txBody>
      </p:sp>
      <p:cxnSp>
        <p:nvCxnSpPr>
          <p:cNvPr id="27" name="Connector 27"/>
          <p:cNvCxnSpPr/>
          <p:nvPr/>
        </p:nvCxnSpPr>
        <p:spPr>
          <a:xfrm rot="-9167">
            <a:off x="6540508" y="5010150"/>
            <a:ext cx="47625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28" name="AutoShape 28"/>
          <p:cNvSpPr/>
          <p:nvPr/>
        </p:nvSpPr>
        <p:spPr>
          <a:xfrm>
            <a:off x="6540500" y="52070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44444"/>
                </a:solidFill>
                <a:latin typeface="Noto Sans SC"/>
                <a:ea typeface="Noto Sans SC"/>
                <a:cs typeface="Noto Sans SC"/>
                <a:sym typeface="Noto Sans SC"/>
              </a:rPr>
              <a:t>集采的顺利推行离不开完善的医保体系支撑。通过医保支付标准与集采价格的联动机制，能够实现“量价挂钩”的良性循环，保障改革的可持续性。</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05 结论与政策启示</a:t>
            </a:r>
            <a:endParaRPr lang="en-US" sz="1100"/>
          </a:p>
        </p:txBody>
      </p:sp>
      <p:sp>
        <p:nvSpPr>
          <p:cNvPr id="4" name="AutoShape 4"/>
          <p:cNvSpPr/>
          <p:nvPr/>
        </p:nvSpPr>
        <p:spPr>
          <a:xfrm>
            <a:off x="762000" y="1905000"/>
            <a:ext cx="3429000" cy="3048000"/>
          </a:xfrm>
          <a:prstGeom prst="roundRect">
            <a:avLst>
              <a:gd name="adj" fmla="val 0"/>
            </a:avLst>
          </a:prstGeom>
          <a:solidFill>
            <a:srgbClr val="FFFFFF">
              <a:alpha val="70000"/>
            </a:srgbClr>
          </a:solidFill>
          <a:ln w="12700" cap="flat" cmpd="sng">
            <a:solidFill>
              <a:srgbClr val="2E5A87">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3429000" cy="762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22500"/>
            <a:ext cx="406400" cy="406400"/>
          </a:xfrm>
          <a:prstGeom prst="rect">
            <a:avLst/>
          </a:prstGeom>
        </p:spPr>
      </p:pic>
      <p:sp>
        <p:nvSpPr>
          <p:cNvPr id="7" name="AutoShape 7"/>
          <p:cNvSpPr/>
          <p:nvPr/>
        </p:nvSpPr>
        <p:spPr>
          <a:xfrm>
            <a:off x="1524000" y="21844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学会用模型看世界</a:t>
            </a:r>
            <a:endParaRPr lang="en-US" sz="1100"/>
          </a:p>
        </p:txBody>
      </p:sp>
      <p:cxnSp>
        <p:nvCxnSpPr>
          <p:cNvPr id="8" name="Connector 8"/>
          <p:cNvCxnSpPr/>
          <p:nvPr/>
        </p:nvCxnSpPr>
        <p:spPr>
          <a:xfrm rot="-14946">
            <a:off x="1016014" y="2787650"/>
            <a:ext cx="29210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9" name="AutoShape 9"/>
          <p:cNvSpPr/>
          <p:nvPr/>
        </p:nvSpPr>
        <p:spPr>
          <a:xfrm>
            <a:off x="952500" y="3048000"/>
            <a:ext cx="3048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25252"/>
                </a:solidFill>
                <a:latin typeface="Noto Sans SC"/>
                <a:ea typeface="Noto Sans SC"/>
                <a:cs typeface="Noto Sans SC"/>
                <a:sym typeface="Noto Sans SC"/>
              </a:rPr>
              <a:t>模型是分析复杂现实的抽象工具。它帮助我们剥离干扰，精准捕捉问题核心（如退出阈值、福利跳跃），梳理变量间的逻辑链条，将感性认知转化为理性的逻辑推演。</a:t>
            </a:r>
            <a:endParaRPr lang="en-US" sz="1100"/>
          </a:p>
        </p:txBody>
      </p:sp>
      <p:sp>
        <p:nvSpPr>
          <p:cNvPr id="10" name="AutoShape 10"/>
          <p:cNvSpPr/>
          <p:nvPr/>
        </p:nvSpPr>
        <p:spPr>
          <a:xfrm>
            <a:off x="4381500" y="1905000"/>
            <a:ext cx="3429000" cy="3048000"/>
          </a:xfrm>
          <a:prstGeom prst="roundRect">
            <a:avLst>
              <a:gd name="adj" fmla="val 0"/>
            </a:avLst>
          </a:prstGeom>
          <a:solidFill>
            <a:srgbClr val="FFFFFF">
              <a:alpha val="70000"/>
            </a:srgbClr>
          </a:solidFill>
          <a:ln w="12700" cap="flat" cmpd="sng">
            <a:solidFill>
              <a:srgbClr val="2E5A87">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381500" y="1905000"/>
            <a:ext cx="3429000" cy="762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2222500"/>
            <a:ext cx="406400" cy="406400"/>
          </a:xfrm>
          <a:prstGeom prst="rect">
            <a:avLst/>
          </a:prstGeom>
        </p:spPr>
      </p:pic>
      <p:sp>
        <p:nvSpPr>
          <p:cNvPr id="13" name="AutoShape 13"/>
          <p:cNvSpPr/>
          <p:nvPr/>
        </p:nvSpPr>
        <p:spPr>
          <a:xfrm>
            <a:off x="5143500" y="21844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理解政策的权衡</a:t>
            </a:r>
            <a:endParaRPr lang="en-US" sz="1100"/>
          </a:p>
        </p:txBody>
      </p:sp>
      <p:cxnSp>
        <p:nvCxnSpPr>
          <p:cNvPr id="14" name="Connector 14"/>
          <p:cNvCxnSpPr/>
          <p:nvPr/>
        </p:nvCxnSpPr>
        <p:spPr>
          <a:xfrm rot="-14946">
            <a:off x="4635514" y="2787650"/>
            <a:ext cx="29210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15" name="AutoShape 15"/>
          <p:cNvSpPr/>
          <p:nvPr/>
        </p:nvSpPr>
        <p:spPr>
          <a:xfrm>
            <a:off x="4572000" y="3048000"/>
            <a:ext cx="3048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25252"/>
                </a:solidFill>
                <a:latin typeface="Noto Sans SC"/>
                <a:ea typeface="Noto Sans SC"/>
                <a:cs typeface="Noto Sans SC"/>
                <a:sym typeface="Noto Sans SC"/>
              </a:rPr>
              <a:t>政策制定本质是利弊的取舍。经济学训练让我们学会客观分析政策的收益与成本，在保障民生福利、激励产业创新与维持市场稳定之间，探寻动态的最优平衡点。</a:t>
            </a:r>
            <a:endParaRPr lang="en-US" sz="1100"/>
          </a:p>
        </p:txBody>
      </p:sp>
      <p:sp>
        <p:nvSpPr>
          <p:cNvPr id="16" name="AutoShape 16"/>
          <p:cNvSpPr/>
          <p:nvPr/>
        </p:nvSpPr>
        <p:spPr>
          <a:xfrm>
            <a:off x="8001000" y="1905000"/>
            <a:ext cx="3429000" cy="3048000"/>
          </a:xfrm>
          <a:prstGeom prst="roundRect">
            <a:avLst>
              <a:gd name="adj" fmla="val 0"/>
            </a:avLst>
          </a:prstGeom>
          <a:solidFill>
            <a:srgbClr val="FFFFFF">
              <a:alpha val="70000"/>
            </a:srgbClr>
          </a:solidFill>
          <a:ln w="12700" cap="flat" cmpd="sng">
            <a:solidFill>
              <a:srgbClr val="2E5A87">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001000" y="1905000"/>
            <a:ext cx="3429000" cy="762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2222500"/>
            <a:ext cx="406400" cy="406400"/>
          </a:xfrm>
          <a:prstGeom prst="rect">
            <a:avLst/>
          </a:prstGeom>
        </p:spPr>
      </p:pic>
      <p:sp>
        <p:nvSpPr>
          <p:cNvPr id="19" name="AutoShape 19"/>
          <p:cNvSpPr/>
          <p:nvPr/>
        </p:nvSpPr>
        <p:spPr>
          <a:xfrm>
            <a:off x="8763000" y="2184400"/>
            <a:ext cx="254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E5A87"/>
                </a:solidFill>
                <a:latin typeface="Noto Sans SC"/>
                <a:ea typeface="Noto Sans SC"/>
                <a:cs typeface="Noto Sans SC"/>
                <a:sym typeface="Noto Sans SC"/>
              </a:rPr>
              <a:t>培养批判性思维</a:t>
            </a:r>
            <a:endParaRPr lang="en-US" sz="1100"/>
          </a:p>
        </p:txBody>
      </p:sp>
      <p:cxnSp>
        <p:nvCxnSpPr>
          <p:cNvPr id="20" name="Connector 20"/>
          <p:cNvCxnSpPr/>
          <p:nvPr/>
        </p:nvCxnSpPr>
        <p:spPr>
          <a:xfrm rot="-14946">
            <a:off x="8255014" y="2787650"/>
            <a:ext cx="2921000" cy="12700"/>
          </a:xfrm>
          <a:prstGeom prst="straightConnector1">
            <a:avLst/>
          </a:prstGeom>
          <a:solidFill>
            <a:srgbClr val="DEE0E3">
              <a:alpha val="100000"/>
            </a:srgbClr>
          </a:solidFill>
          <a:ln w="12700" cap="flat" cmpd="sng">
            <a:solidFill>
              <a:srgbClr val="2E5A87">
                <a:alpha val="20000"/>
              </a:srgbClr>
            </a:solidFill>
            <a:prstDash val="dash"/>
            <a:round/>
            <a:headEnd type="none" w="med" len="med"/>
            <a:tailEnd type="none" w="med" len="med"/>
          </a:ln>
        </p:spPr>
      </p:cxnSp>
      <p:sp>
        <p:nvSpPr>
          <p:cNvPr id="21" name="AutoShape 21"/>
          <p:cNvSpPr/>
          <p:nvPr/>
        </p:nvSpPr>
        <p:spPr>
          <a:xfrm>
            <a:off x="8191500" y="3048000"/>
            <a:ext cx="3048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25252"/>
                </a:solidFill>
                <a:latin typeface="Noto Sans SC"/>
                <a:ea typeface="Noto Sans SC"/>
                <a:cs typeface="Noto Sans SC"/>
                <a:sym typeface="Noto Sans SC"/>
              </a:rPr>
              <a:t>所有理论模型都基于特定假设与边界。真正的学术素养，在于识别这些局限，不盲从既有结论。这不仅能帮助我们更严谨地运用理论，更能为未来的研究与政策优化找到突破口。</a:t>
            </a:r>
            <a:endParaRPr lang="en-US" sz="1100"/>
          </a:p>
        </p:txBody>
      </p:sp>
      <p:sp>
        <p:nvSpPr>
          <p:cNvPr id="22" name="AutoShape 22"/>
          <p:cNvSpPr/>
          <p:nvPr/>
        </p:nvSpPr>
        <p:spPr>
          <a:xfrm>
            <a:off x="762000" y="5461000"/>
            <a:ext cx="10668000" cy="889000"/>
          </a:xfrm>
          <a:prstGeom prst="roundRect">
            <a:avLst>
              <a:gd name="adj" fmla="val 0"/>
            </a:avLst>
          </a:prstGeom>
          <a:solidFill>
            <a:srgbClr val="2E5A87">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762000" y="5461000"/>
            <a:ext cx="76200" cy="8890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1016000" y="558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3333"/>
                </a:solidFill>
                <a:latin typeface="Noto Sans SC"/>
                <a:ea typeface="Noto Sans SC"/>
                <a:cs typeface="Noto Sans SC"/>
                <a:sym typeface="Noto Sans SC"/>
              </a:rPr>
              <a:t>希望今天的分享，能帮助大家穿透现象的迷雾，更好地理解药品集采背后的经济学逻辑，在未来的学术探索与实践分析中建立更系统、更理性的思考框架。</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794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333333"/>
                </a:solidFill>
                <a:latin typeface="Noto Sans SC"/>
                <a:ea typeface="Noto Sans SC"/>
                <a:cs typeface="Noto Sans SC"/>
                <a:sym typeface="Noto Sans SC"/>
              </a:rPr>
              <a:t>Q&amp;A</a:t>
            </a:r>
            <a:endParaRPr lang="en-US" sz="1100"/>
          </a:p>
        </p:txBody>
      </p:sp>
      <p:sp>
        <p:nvSpPr>
          <p:cNvPr id="4" name="AutoShape 4"/>
          <p:cNvSpPr/>
          <p:nvPr/>
        </p:nvSpPr>
        <p:spPr>
          <a:xfrm>
            <a:off x="5588000" y="4191000"/>
            <a:ext cx="1016000" cy="50800"/>
          </a:xfrm>
          <a:prstGeom prst="roundRect">
            <a:avLst>
              <a:gd name="adj" fmla="val 0"/>
            </a:avLst>
          </a:prstGeom>
          <a:solidFill>
            <a:srgbClr val="2E5A8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699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2000" b="0" i="0" u="none" strike="noStrike">
                <a:solidFill>
                  <a:srgbClr val="444444"/>
                </a:solidFill>
                <a:latin typeface="Noto Sans SC"/>
                <a:ea typeface="Noto Sans SC"/>
                <a:cs typeface="Noto Sans SC"/>
                <a:sym typeface="Noto Sans SC"/>
              </a:rPr>
              <a:t>感谢聆听 · 欢迎提问与交流</a:t>
            </a:r>
            <a:endParaRPr lang="en-US" sz="1100"/>
          </a:p>
        </p:txBody>
      </p:sp>
      <p:pic>
        <p:nvPicPr>
          <p:cNvPr id="6" name="Picture 6"/>
          <p:cNvPicPr>
            <a:picLocks noChangeAspect="1"/>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1480</Words>
  <Application>Microsoft Office PowerPoint</Application>
  <PresentationFormat>宽屏</PresentationFormat>
  <Paragraphs>182</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15</vt:i4>
      </vt:variant>
    </vt:vector>
  </HeadingPairs>
  <TitlesOfParts>
    <vt:vector size="19"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Chen Z.</cp:lastModifiedBy>
  <cp:revision>2</cp:revision>
  <dcterms:modified xsi:type="dcterms:W3CDTF">2026-06-23T02:55:25Z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{"Label":"1","ContentProducer":"001191110102MACQD9K64010000","ProduceID":"7654418292447743179","ReservedCode1":"","ContentPropagator":"","PropagateID":"","ReservedCode2":""}</vt:lpwstr>
  </property>
</Properties>
</file>